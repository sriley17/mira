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858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Biz NamDTU jamoasimiz, loyihamiz — MIRA: reabilitatsiya davridagi bemorlar uchun aqlli masofaviy nazorat tizimi. Tizim uch qurilma — MIRA Band, MIRA Force, MIRA Box — hamda bemor ilovasi va shifokor panelidan iborat.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 NamDTU jamoasimiz. MIRA — oddiy fitness-bilaguzuk emas. Bu nogironlik, insult, infarkt va operatsiyadan keyingi reabilitatsiyani uyda ham shifokor nazoratida o‘tkazish va bemor ma’lumotlarini raqamlashtirish tizimi. Bemorga — uyda xavfsiz reabilitatsiya va tushunarli tavsiyalar; shifokorga — raqamlar, trendlar va AI risk-triaj; shifoxonaga — uyga chiqarilgan bemorni 30–90 kun davomida nazoratda ushlash imkoniyati.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Muammoni davlat siyosatidan boshlaymiz. Prezidentning PQ-4642-son qarori (PQ-5199 tahririda) bilan «Yagona elektron tibbiy karta» va «Elektron retsept» tizimlarini joriy etish belgilangan. Vazirlar Mahkamasining 2025-yil 8-sentabrdagi 570-son qarori bilan barcha tibbiyot tashkilotlari Raqamli sog‘liqni saqlash platformasiga ulanadi. 2026-yil yanvarida e’lon qilingan «Infarkt va insultga qarshi kurash» milliy dasturi Namanganda 1-oktabrdan boshlanadi. Bu dastur shoshilinch yordamga qaratilgan — lekin bemor uyga chiqqach, reabilitatsiya davri nazoratsiz qoladi. Sifatli va doimiy nazoratli reabilitatsiya bo‘lmasa, kasallik qaytalanadi, og‘irroq shaklga o‘tadi yoki nogironlikka olib keladi — ayniqsa insult va infarktdan keyin. Cochrane sharhiga ko‘ra, nazoratli kardioreabilitatsiya qayta infarkt xavfini 28 foizga, qayta kasalxonaga yotqizishni 42 foizga kamaytiradi. MIRA uydagi reabilitatsiya ma’lumotlarini raqamlashtirib, elektron tibbiy karta tizimi ijrosiga hissa qo‘shadi.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Bozorni kattadan kichikka qarab ko‘rsatamiz. Butun O‘zbekistonda 2024-yil 1-yanvar holatiga 1 432 ta shifoxona bor — bu kelajakdagi bozorimiz. Boshlanadigan bozor — Namangan viloyati: 118 ta shifoxona, 15,7 ming bemor o‘rni. Birinchi 12 oydagi real maqsad — 5 ta shifoxona va 100 ta Band; to‘liq yuklamada bu yiliga taxminan 800 bemor. Maqsadli auditoriya — nogironligi bor bemorlar, insult, infarkt va operatsiyadan keyingi reabilitatsiyadagi hamda surunkali kasalliklari bor bemorlar.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 ikki bosqichli ishlaydi. MIRA Band bemor bilan doimiy yuradi. Agar Band ma’lumotlari va bemorning ilovadagi javoblarida sezilarli o‘zgarish paydo bo‘lsa, tizim MIRA Box va MIRA Force orqali chuqurroq tekshiruv tavsiya qiladi. Serverdagi AI diagnoz qo‘yuvchi emas, risk-triaj va qarorlarni qo‘llab-quvvatlash tizimi. Masalan, shifokor ’SpO₂ bazaviy qiymatdan 4 foizga pasaydi, puls 22 foiz oshdi’ degan ma’lumotni ko‘radi, bemor esa ’ko‘rsatkichlaringizda o‘zgarish kuzatildi, dam oling va qo‘shimcha tekshiruvni bajaring‘ degan tavsiya oladi. Aqlli soatlar va uy tonometrlari alohida ko‘rsatkichni o‘lchaydi, lekin shifokor bilan uzluksiz bog‘lanish va reabilitatsiya dinamikasini bermaydi. Ma’lumotlar O‘RQ-547 qonuni asosida himoyalanadi.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Biznes modelimiz B2B2C: to‘lovchi — shifoxona, xizmat oluvchi — bemor. Asosiy g‘oya — kam qurilma, ko‘p foydalanuvchi. MIRA Band har bir bemorga alohida beriladi. MIRA Box va MIRA Force esa bitta uy yoki markaz uchun yetarli: bemor uyda yolg‘iz bo‘lsa — unga to‘liq to‘plam; oilada ikki va undan ortiq bemor bo‘lsa — har biriga Band, Box va Force esa umumiy; reabilitatsiya markazida — bitta Box va Force ko‘p bemorga xizmat qiladi. Narxlar: Band ijarasi bemor uchun oyiga 10 dollar, Box ijarasi uy yoki markaz uchun oyiga 20 dollar, Force 20 dollarga bir martalik sotiladi, test-strip tannarxda. Masalan, 10 bemorli markazga har biriga to‘liq to‘plam berilsa 1 770 dollarlik qurilma kerak bo‘lardi; bizning modelda — 10 ta Band, 1 ta Box va 1 ta Force, jami 609 dollar. Markaz oyiga 120 dollar to‘laydi va qurilmalar taxminan 6 oyda o‘zini qoplaydi. Uyda yolg‘iz bemor misolida: 1,5 oyda 65 dollar daromad, 25 dollar xarajat, 40 dollar foyda. Band’ning tannarxi 100 dona miqyosida 45–50 dollar: nRF52840 5,49, BMI270 3,17, MAX30208 3,58, MAX30102 10,83 dollar. Raspberry Pi va 4G modem ishlatmaymiz — internet va GPS telefon orqali.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Hozir MVP tayyor: bemor va shifokor portali, AI risk-triaj prototipi va qurilmalar dizayni. F1 — birinchi 6 oy, texnik pilot: Namangandagi 1 ta shifoxona, 30 ta Band, 10 ta Box va Force, taxminan 30 bemor. Maqsad — o‘lchovlar aniqligini klinik asboblar bilan solishtirish, ma’lumot yetkazish kamida 95 foiz, ogohlantirishga javob vaqtini o‘lchash. Byudjet taxminan 3,5 ming dollar. F2 — 7–12 oylar, klinik pilot: 5 ta shifoxona, 100 ta Band, 40 ta Box va Force, taxminan 250 bemor, pullik shartnomalar, tibbiy buyum sifatida ro‘yxatdan o‘tish va DMED integratsiyasiga tayyorlik. Qo‘shimcha byudjet taxminan 8 ming dollar, daromad taxminan 10 ming dollar. 3 yilda respublika bo‘ylab 50 ta shifoxona, 1 000 ta Band, 400 ta Box, yiliga taxminan 8 000 bemor va 330 ming dollar daromad.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Jamoamiz — NamDTU. Loyiha rahbari Inomov Hojiakbar Azizjon o‘g‘li, dasturchi Rajabov Sarvar Boymurod o‘g‘li, UI dizayner Bahodir Ahmadaliyev Ulug‘bek o‘g‘li, biznes analitik Abduhamidova Mubina Ilhomjon qizi. Biz bilan bog‘lanish: +998 94 807 12 24, Namangan davlat texnika universiteti. E’tiboringiz uchun rahmat!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AM">
    <p:bg>
      <p:bgPr>
        <a:solidFill>
          <a:srgbClr val="F3F5F9"/>
        </a:solidFill>
        <a:effectLst/>
      </p:bgPr>
    </p:bg>
    <p:spTree>
      <p:nvGrpSpPr>
        <p:cNvPr id="1" name=""/>
        <p:cNvGrpSpPr/>
        <p:nvPr/>
      </p:nvGrpSpPr>
      <p:grpSpPr>
        <a:xfrm>
          <a:off x="0" y="0"/>
          <a:ext cx="0" cy="0"/>
          <a:chOff x="0" y="0"/>
          <a:chExt cx="0" cy="0"/>
        </a:xfrm>
      </p:grpSpPr>
      <p:sp>
        <p:nvSpPr>
          <p:cNvPr id="2" name="Text 0"/>
          <p:cNvSpPr>
            <a:spLocks noGrp="1"/>
          </p:cNvSpPr>
          <p:nvPr>
            <p:ph type="pic" idx="100" hasCustomPrompt="1"/>
          </p:nvPr>
        </p:nvSpPr>
        <p:spPr>
          <a:xfrm>
            <a:off x="822960" y="1965960"/>
            <a:ext cx="2057400" cy="1874520"/>
          </a:xfrm>
          <a:prstGeom prst="rect">
            <a:avLst/>
          </a:prstGeom>
          <a:noFill/>
          <a:ln/>
        </p:spPr>
        <p:txBody>
          <a:bodyPr wrap="square" rtlCol="0" anchor="ctr"/>
          <a:lstStyle>
            <a:lvl1pPr marL="0" indent="0" algn="ctr">
              <a:buNone/>
              <a:defRPr lang="en-US" dirty="0"/>
            </a:lvl1pPr>
          </a:lstStyle>
          <a:p>
            <a:pPr marL="0" indent="0">
              <a:buNone/>
            </a:pPr>
            <a:r>
              <a:rPr lang="en-US" dirty="0">
                <a:solidFill>
                  <a:srgbClr val="5E6B80"/>
                </a:solidFill>
              </a:rPr>
              <a:t>Rasm qo‘shish</a:t>
            </a:r>
            <a:endParaRPr lang="en-US" dirty="0"/>
          </a:p>
        </p:txBody>
      </p:sp>
      <p:sp>
        <p:nvSpPr>
          <p:cNvPr id="3" name="Text 0"/>
          <p:cNvSpPr>
            <a:spLocks noGrp="1"/>
          </p:cNvSpPr>
          <p:nvPr>
            <p:ph type="pic" idx="101" hasCustomPrompt="1"/>
          </p:nvPr>
        </p:nvSpPr>
        <p:spPr>
          <a:xfrm>
            <a:off x="3642055" y="1965960"/>
            <a:ext cx="2057400" cy="1874520"/>
          </a:xfrm>
          <a:prstGeom prst="rect">
            <a:avLst/>
          </a:prstGeom>
          <a:noFill/>
          <a:ln/>
        </p:spPr>
        <p:txBody>
          <a:bodyPr wrap="square" rtlCol="0" anchor="ctr"/>
          <a:lstStyle>
            <a:lvl1pPr marL="0" indent="0" algn="ctr">
              <a:buNone/>
              <a:defRPr lang="en-US" dirty="0"/>
            </a:lvl1pPr>
          </a:lstStyle>
          <a:p>
            <a:pPr marL="0" indent="0">
              <a:buNone/>
            </a:pPr>
            <a:r>
              <a:rPr lang="en-US" dirty="0">
                <a:solidFill>
                  <a:srgbClr val="5E6B80"/>
                </a:solidFill>
              </a:rPr>
              <a:t>Rasm qo‘shish</a:t>
            </a:r>
            <a:endParaRPr lang="en-US" dirty="0"/>
          </a:p>
        </p:txBody>
      </p:sp>
      <p:sp>
        <p:nvSpPr>
          <p:cNvPr id="4" name="Text 0"/>
          <p:cNvSpPr>
            <a:spLocks noGrp="1"/>
          </p:cNvSpPr>
          <p:nvPr>
            <p:ph type="pic" idx="102" hasCustomPrompt="1"/>
          </p:nvPr>
        </p:nvSpPr>
        <p:spPr>
          <a:xfrm>
            <a:off x="6461150" y="1965960"/>
            <a:ext cx="2057400" cy="1874520"/>
          </a:xfrm>
          <a:prstGeom prst="rect">
            <a:avLst/>
          </a:prstGeom>
          <a:noFill/>
          <a:ln/>
        </p:spPr>
        <p:txBody>
          <a:bodyPr wrap="square" rtlCol="0" anchor="ctr"/>
          <a:lstStyle>
            <a:lvl1pPr marL="0" indent="0" algn="ctr">
              <a:buNone/>
              <a:defRPr lang="en-US" dirty="0"/>
            </a:lvl1pPr>
          </a:lstStyle>
          <a:p>
            <a:pPr marL="0" indent="0">
              <a:buNone/>
            </a:pPr>
            <a:r>
              <a:rPr lang="en-US" dirty="0">
                <a:solidFill>
                  <a:srgbClr val="5E6B80"/>
                </a:solidFill>
              </a:rPr>
              <a:t>Rasm qo‘shish</a:t>
            </a:r>
            <a:endParaRPr lang="en-US" dirty="0"/>
          </a:p>
        </p:txBody>
      </p:sp>
      <p:sp>
        <p:nvSpPr>
          <p:cNvPr id="5" name="Text 0"/>
          <p:cNvSpPr>
            <a:spLocks noGrp="1"/>
          </p:cNvSpPr>
          <p:nvPr>
            <p:ph type="pic" idx="103" hasCustomPrompt="1"/>
          </p:nvPr>
        </p:nvSpPr>
        <p:spPr>
          <a:xfrm>
            <a:off x="9280246" y="1965960"/>
            <a:ext cx="2057400" cy="1874520"/>
          </a:xfrm>
          <a:prstGeom prst="rect">
            <a:avLst/>
          </a:prstGeom>
          <a:noFill/>
          <a:ln/>
        </p:spPr>
        <p:txBody>
          <a:bodyPr wrap="square" rtlCol="0" anchor="ctr"/>
          <a:lstStyle>
            <a:lvl1pPr marL="0" indent="0" algn="ctr">
              <a:buNone/>
              <a:defRPr lang="en-US" dirty="0"/>
            </a:lvl1pPr>
          </a:lstStyle>
          <a:p>
            <a:pPr marL="0" indent="0">
              <a:buNone/>
            </a:pPr>
            <a:r>
              <a:rPr lang="en-US" dirty="0">
                <a:solidFill>
                  <a:srgbClr val="5E6B80"/>
                </a:solidFill>
              </a:rPr>
              <a:t>Rasm qo‘shish</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9.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4572000" cy="320040"/>
          </a:xfrm>
          <a:prstGeom prst="rect">
            <a:avLst/>
          </a:prstGeom>
          <a:noFill/>
          <a:ln/>
        </p:spPr>
        <p:txBody>
          <a:bodyPr wrap="square" lIns="0" tIns="0" rIns="0" bIns="0" rtlCol="0" anchor="ctr"/>
          <a:lstStyle/>
          <a:p>
            <a:pPr marL="0" indent="0">
              <a:buNone/>
            </a:pPr>
            <a:r>
              <a:rPr lang="en-US" sz="1300" kern="0" spc="200" dirty="0">
                <a:solidFill>
                  <a:srgbClr val="9FB3D1"/>
                </a:solidFill>
                <a:latin typeface="Calibri" pitchFamily="34" charset="0"/>
                <a:ea typeface="Calibri" pitchFamily="34" charset="-122"/>
                <a:cs typeface="Calibri" pitchFamily="34" charset="-120"/>
              </a:rPr>
              <a:t>NamDTU jamoasi  ·  Pitch Day</a:t>
            </a:r>
            <a:endParaRPr lang="en-US" sz="1300" dirty="0"/>
          </a:p>
        </p:txBody>
      </p:sp>
      <p:sp>
        <p:nvSpPr>
          <p:cNvPr id="3" name="Text 1"/>
          <p:cNvSpPr txBox="1"/>
          <p:nvPr/>
        </p:nvSpPr>
        <p:spPr>
          <a:xfrm>
            <a:off x="603504" y="1554480"/>
            <a:ext cx="4754880" cy="1234440"/>
          </a:xfrm>
          <a:prstGeom prst="rect">
            <a:avLst/>
          </a:prstGeom>
          <a:noFill/>
          <a:ln/>
        </p:spPr>
        <p:txBody>
          <a:bodyPr wrap="square" lIns="0" tIns="0" rIns="0" bIns="0" rtlCol="0" anchor="ctr"/>
          <a:lstStyle/>
          <a:p>
            <a:pPr marL="0" indent="0">
              <a:buNone/>
            </a:pPr>
            <a:r>
              <a:rPr lang="en-US" sz="8800" b="1" dirty="0">
                <a:solidFill>
                  <a:srgbClr val="FFFFFF"/>
                </a:solidFill>
                <a:latin typeface="Calibri" pitchFamily="34" charset="0"/>
                <a:ea typeface="Calibri" pitchFamily="34" charset="-122"/>
                <a:cs typeface="Calibri" pitchFamily="34" charset="-120"/>
              </a:rPr>
              <a:t>MIRA</a:t>
            </a:r>
            <a:r>
              <a:rPr lang="en-US" sz="8800" b="1" dirty="0">
                <a:solidFill>
                  <a:srgbClr val="E0453A"/>
                </a:solidFill>
                <a:latin typeface="Calibri" pitchFamily="34" charset="0"/>
                <a:ea typeface="Calibri" pitchFamily="34" charset="-122"/>
                <a:cs typeface="Calibri" pitchFamily="34" charset="-120"/>
              </a:rPr>
              <a:t>+</a:t>
            </a:r>
            <a:endParaRPr lang="en-US" sz="8800" dirty="0"/>
          </a:p>
        </p:txBody>
      </p:sp>
      <p:sp>
        <p:nvSpPr>
          <p:cNvPr id="4" name="Text 2"/>
          <p:cNvSpPr txBox="1"/>
          <p:nvPr/>
        </p:nvSpPr>
        <p:spPr>
          <a:xfrm>
            <a:off x="640080" y="2926080"/>
            <a:ext cx="45720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Reabilitatsiya davridagi bemorlar uchun aqlli masofaviy nazorat tizimi</a:t>
            </a:r>
            <a:endParaRPr lang="en-US" sz="2200" dirty="0"/>
          </a:p>
        </p:txBody>
      </p:sp>
      <p:sp>
        <p:nvSpPr>
          <p:cNvPr id="5" name="Text 3"/>
          <p:cNvSpPr txBox="1"/>
          <p:nvPr/>
        </p:nvSpPr>
        <p:spPr>
          <a:xfrm>
            <a:off x="640080" y="3977640"/>
            <a:ext cx="4572000" cy="640080"/>
          </a:xfrm>
          <a:prstGeom prst="rect">
            <a:avLst/>
          </a:prstGeom>
          <a:noFill/>
          <a:ln/>
        </p:spPr>
        <p:txBody>
          <a:bodyPr wrap="square" lIns="0" tIns="0" rIns="0" bIns="0" rtlCol="0" anchor="t"/>
          <a:lstStyle/>
          <a:p>
            <a:pPr marL="0" indent="0">
              <a:buNone/>
            </a:pPr>
            <a:r>
              <a:rPr lang="en-US" sz="1500" i="1" dirty="0">
                <a:solidFill>
                  <a:srgbClr val="9FB3D1"/>
                </a:solidFill>
                <a:latin typeface="Calibri" pitchFamily="34" charset="0"/>
                <a:ea typeface="Calibri" pitchFamily="34" charset="-122"/>
                <a:cs typeface="Calibri" pitchFamily="34" charset="-120"/>
              </a:rPr>
              <a:t>Bemor shifoxonadan uyga chiqqach ham shifokor nazoratida qoladi.</a:t>
            </a:r>
            <a:endParaRPr lang="en-US" sz="1500" dirty="0"/>
          </a:p>
        </p:txBody>
      </p:sp>
      <p:sp>
        <p:nvSpPr>
          <p:cNvPr id="6" name="Text 4"/>
          <p:cNvSpPr txBox="1"/>
          <p:nvPr/>
        </p:nvSpPr>
        <p:spPr>
          <a:xfrm>
            <a:off x="640080" y="6172200"/>
            <a:ext cx="4754880" cy="274320"/>
          </a:xfrm>
          <a:prstGeom prst="rect">
            <a:avLst/>
          </a:prstGeom>
          <a:noFill/>
          <a:ln/>
        </p:spPr>
        <p:txBody>
          <a:bodyPr wrap="square" lIns="0" tIns="0" rIns="0" bIns="0" rtlCol="0" anchor="ctr"/>
          <a:lstStyle/>
          <a:p>
            <a:pPr marL="0" indent="0">
              <a:buNone/>
            </a:pPr>
            <a:r>
              <a:rPr lang="en-US" sz="1100" kern="0" spc="100" dirty="0">
                <a:solidFill>
                  <a:srgbClr val="7F92B0"/>
                </a:solidFill>
                <a:latin typeface="Calibri" pitchFamily="34" charset="0"/>
                <a:ea typeface="Calibri" pitchFamily="34" charset="-122"/>
                <a:cs typeface="Calibri" pitchFamily="34" charset="-120"/>
              </a:rPr>
              <a:t>#MilliyAIXakaton     #NamanganAI     2026</a:t>
            </a:r>
            <a:endParaRPr lang="en-US" sz="1100" dirty="0"/>
          </a:p>
        </p:txBody>
      </p:sp>
      <p:sp>
        <p:nvSpPr>
          <p:cNvPr id="7" name="Shape 5"/>
          <p:cNvSpPr/>
          <p:nvPr/>
        </p:nvSpPr>
        <p:spPr>
          <a:xfrm>
            <a:off x="5522976" y="1362456"/>
            <a:ext cx="2121408" cy="2807208"/>
          </a:xfrm>
          <a:prstGeom prst="roundRect">
            <a:avLst>
              <a:gd name="adj" fmla="val 4310"/>
            </a:avLst>
          </a:prstGeom>
          <a:solidFill>
            <a:srgbClr val="1B2C4D"/>
          </a:solidFill>
          <a:ln w="9525">
            <a:solidFill>
              <a:srgbClr val="2C4270"/>
            </a:solidFill>
            <a:prstDash val="solid"/>
          </a:ln>
          <a:effectLst>
            <a:outerShdw blurRad="228600" dist="76200" dir="5400000" algn="bl" rotWithShape="0">
              <a:srgbClr val="000000">
                <a:alpha val="35000"/>
              </a:srgbClr>
            </a:outerShdw>
          </a:effectLst>
        </p:spPr>
        <p:txBody>
          <a:bodyPr/>
          <a:lstStyle/>
          <a:p>
            <a:endParaRPr lang="en-US"/>
          </a:p>
        </p:txBody>
      </p:sp>
      <p:pic>
        <p:nvPicPr>
          <p:cNvPr id="8" name="Image 0" descr="/home/claude/mira/img/t_band.png"/>
          <p:cNvPicPr>
            <a:picLocks noChangeAspect="1"/>
          </p:cNvPicPr>
          <p:nvPr/>
        </p:nvPicPr>
        <p:blipFill>
          <a:blip r:embed="rId3"/>
          <a:stretch>
            <a:fillRect/>
          </a:stretch>
        </p:blipFill>
        <p:spPr>
          <a:xfrm>
            <a:off x="5577840" y="1417320"/>
            <a:ext cx="2011680" cy="2697480"/>
          </a:xfrm>
          <a:prstGeom prst="rect">
            <a:avLst/>
          </a:prstGeom>
        </p:spPr>
      </p:pic>
      <p:sp>
        <p:nvSpPr>
          <p:cNvPr id="9" name="Text 6"/>
          <p:cNvSpPr txBox="1"/>
          <p:nvPr/>
        </p:nvSpPr>
        <p:spPr>
          <a:xfrm>
            <a:off x="5577840" y="4389120"/>
            <a:ext cx="2011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MIRA Band</a:t>
            </a:r>
            <a:endParaRPr lang="en-US" sz="1600" dirty="0"/>
          </a:p>
        </p:txBody>
      </p:sp>
      <p:sp>
        <p:nvSpPr>
          <p:cNvPr id="10" name="Text 7"/>
          <p:cNvSpPr txBox="1"/>
          <p:nvPr/>
        </p:nvSpPr>
        <p:spPr>
          <a:xfrm>
            <a:off x="5577840" y="4709160"/>
            <a:ext cx="201168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kundalik kuzatuv</a:t>
            </a:r>
            <a:endParaRPr lang="en-US" sz="1200" dirty="0"/>
          </a:p>
        </p:txBody>
      </p:sp>
      <p:sp>
        <p:nvSpPr>
          <p:cNvPr id="11" name="Shape 8"/>
          <p:cNvSpPr/>
          <p:nvPr/>
        </p:nvSpPr>
        <p:spPr>
          <a:xfrm>
            <a:off x="7699248" y="1362456"/>
            <a:ext cx="2121408" cy="2807208"/>
          </a:xfrm>
          <a:prstGeom prst="roundRect">
            <a:avLst>
              <a:gd name="adj" fmla="val 4310"/>
            </a:avLst>
          </a:prstGeom>
          <a:solidFill>
            <a:srgbClr val="1B2C4D"/>
          </a:solidFill>
          <a:ln w="9525">
            <a:solidFill>
              <a:srgbClr val="2C4270"/>
            </a:solidFill>
            <a:prstDash val="solid"/>
          </a:ln>
          <a:effectLst>
            <a:outerShdw blurRad="228600" dist="76200" dir="5400000" algn="bl" rotWithShape="0">
              <a:srgbClr val="000000">
                <a:alpha val="35000"/>
              </a:srgbClr>
            </a:outerShdw>
          </a:effectLst>
        </p:spPr>
        <p:txBody>
          <a:bodyPr/>
          <a:lstStyle/>
          <a:p>
            <a:endParaRPr lang="en-US"/>
          </a:p>
        </p:txBody>
      </p:sp>
      <p:pic>
        <p:nvPicPr>
          <p:cNvPr id="12" name="Image 1" descr="/home/claude/mira/img/t_force.png"/>
          <p:cNvPicPr>
            <a:picLocks noChangeAspect="1"/>
          </p:cNvPicPr>
          <p:nvPr/>
        </p:nvPicPr>
        <p:blipFill>
          <a:blip r:embed="rId4"/>
          <a:stretch>
            <a:fillRect/>
          </a:stretch>
        </p:blipFill>
        <p:spPr>
          <a:xfrm>
            <a:off x="7754112" y="1417320"/>
            <a:ext cx="2011680" cy="2697480"/>
          </a:xfrm>
          <a:prstGeom prst="rect">
            <a:avLst/>
          </a:prstGeom>
        </p:spPr>
      </p:pic>
      <p:sp>
        <p:nvSpPr>
          <p:cNvPr id="13" name="Text 9"/>
          <p:cNvSpPr txBox="1"/>
          <p:nvPr/>
        </p:nvSpPr>
        <p:spPr>
          <a:xfrm>
            <a:off x="7754112" y="4389120"/>
            <a:ext cx="2011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MIRA Force</a:t>
            </a:r>
            <a:endParaRPr lang="en-US" sz="1600" dirty="0"/>
          </a:p>
        </p:txBody>
      </p:sp>
      <p:sp>
        <p:nvSpPr>
          <p:cNvPr id="14" name="Text 10"/>
          <p:cNvSpPr txBox="1"/>
          <p:nvPr/>
        </p:nvSpPr>
        <p:spPr>
          <a:xfrm>
            <a:off x="7754112" y="4709160"/>
            <a:ext cx="201168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reabilitatsiya kuchi</a:t>
            </a:r>
            <a:endParaRPr lang="en-US" sz="1200" dirty="0"/>
          </a:p>
        </p:txBody>
      </p:sp>
      <p:sp>
        <p:nvSpPr>
          <p:cNvPr id="15" name="Shape 11"/>
          <p:cNvSpPr/>
          <p:nvPr/>
        </p:nvSpPr>
        <p:spPr>
          <a:xfrm>
            <a:off x="9875520" y="1362456"/>
            <a:ext cx="2121408" cy="2807208"/>
          </a:xfrm>
          <a:prstGeom prst="roundRect">
            <a:avLst>
              <a:gd name="adj" fmla="val 4310"/>
            </a:avLst>
          </a:prstGeom>
          <a:solidFill>
            <a:srgbClr val="1B2C4D"/>
          </a:solidFill>
          <a:ln w="9525">
            <a:solidFill>
              <a:srgbClr val="2C4270"/>
            </a:solidFill>
            <a:prstDash val="solid"/>
          </a:ln>
          <a:effectLst>
            <a:outerShdw blurRad="228600" dist="76200" dir="5400000" algn="bl" rotWithShape="0">
              <a:srgbClr val="000000">
                <a:alpha val="35000"/>
              </a:srgbClr>
            </a:outerShdw>
          </a:effectLst>
        </p:spPr>
        <p:txBody>
          <a:bodyPr/>
          <a:lstStyle/>
          <a:p>
            <a:endParaRPr lang="en-US"/>
          </a:p>
        </p:txBody>
      </p:sp>
      <p:pic>
        <p:nvPicPr>
          <p:cNvPr id="16" name="Image 2" descr="/home/claude/mira/img/t_box.png"/>
          <p:cNvPicPr>
            <a:picLocks noChangeAspect="1"/>
          </p:cNvPicPr>
          <p:nvPr/>
        </p:nvPicPr>
        <p:blipFill>
          <a:blip r:embed="rId5"/>
          <a:stretch>
            <a:fillRect/>
          </a:stretch>
        </p:blipFill>
        <p:spPr>
          <a:xfrm>
            <a:off x="9930384" y="1417320"/>
            <a:ext cx="2011680" cy="2697480"/>
          </a:xfrm>
          <a:prstGeom prst="rect">
            <a:avLst/>
          </a:prstGeom>
        </p:spPr>
      </p:pic>
      <p:sp>
        <p:nvSpPr>
          <p:cNvPr id="17" name="Text 12"/>
          <p:cNvSpPr txBox="1"/>
          <p:nvPr/>
        </p:nvSpPr>
        <p:spPr>
          <a:xfrm>
            <a:off x="9930384" y="4389120"/>
            <a:ext cx="2011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MIRA Box</a:t>
            </a:r>
            <a:endParaRPr lang="en-US" sz="1600" dirty="0"/>
          </a:p>
        </p:txBody>
      </p:sp>
      <p:sp>
        <p:nvSpPr>
          <p:cNvPr id="18" name="Text 13"/>
          <p:cNvSpPr txBox="1"/>
          <p:nvPr/>
        </p:nvSpPr>
        <p:spPr>
          <a:xfrm>
            <a:off x="9930384" y="4709160"/>
            <a:ext cx="201168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chuqur tekshiruv</a:t>
            </a:r>
            <a:endParaRPr lang="en-US" sz="1200" dirty="0"/>
          </a:p>
        </p:txBody>
      </p:sp>
      <p:sp>
        <p:nvSpPr>
          <p:cNvPr id="19" name="Text 14"/>
          <p:cNvSpPr txBox="1"/>
          <p:nvPr/>
        </p:nvSpPr>
        <p:spPr>
          <a:xfrm>
            <a:off x="5577840" y="5212080"/>
            <a:ext cx="6400800" cy="274320"/>
          </a:xfrm>
          <a:prstGeom prst="rect">
            <a:avLst/>
          </a:prstGeom>
          <a:noFill/>
          <a:ln/>
        </p:spPr>
        <p:txBody>
          <a:bodyPr wrap="square" lIns="0" tIns="0" rIns="0" bIns="0" rtlCol="0" anchor="ctr"/>
          <a:lstStyle/>
          <a:p>
            <a:pPr marL="0" indent="0">
              <a:buNone/>
            </a:pPr>
            <a:r>
              <a:rPr lang="en-US" sz="1200" i="1" dirty="0">
                <a:solidFill>
                  <a:srgbClr val="7F92B0"/>
                </a:solidFill>
                <a:latin typeface="Calibri" pitchFamily="34" charset="0"/>
                <a:ea typeface="Calibri" pitchFamily="34" charset="-122"/>
                <a:cs typeface="Calibri" pitchFamily="34" charset="-120"/>
              </a:rPr>
              <a:t>+ bemor ilovasi va shifokor paneli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02</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Biz kimmiz va nima taqdim etamiz?</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MIRA — nogironlik, insult va infarktdan keyingi reabilitatsiyani uyda nazorat qilish va raqamlashtirish tizimi.</a:t>
            </a:r>
            <a:endParaRPr lang="en-US" sz="1500" dirty="0"/>
          </a:p>
        </p:txBody>
      </p:sp>
      <p:sp>
        <p:nvSpPr>
          <p:cNvPr id="6" name="Shape 4"/>
          <p:cNvSpPr/>
          <p:nvPr/>
        </p:nvSpPr>
        <p:spPr>
          <a:xfrm>
            <a:off x="548640" y="1691640"/>
            <a:ext cx="2606040" cy="2788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pic>
        <p:nvPicPr>
          <p:cNvPr id="7" name="Image 0" descr="/home/claude/mira/img/d_band.png"/>
          <p:cNvPicPr>
            <a:picLocks noChangeAspect="1"/>
          </p:cNvPicPr>
          <p:nvPr/>
        </p:nvPicPr>
        <p:blipFill>
          <a:blip r:embed="rId3"/>
          <a:stretch>
            <a:fillRect/>
          </a:stretch>
        </p:blipFill>
        <p:spPr>
          <a:xfrm>
            <a:off x="640080" y="1783080"/>
            <a:ext cx="2423160" cy="1783080"/>
          </a:xfrm>
          <a:prstGeom prst="rect">
            <a:avLst/>
          </a:prstGeom>
        </p:spPr>
      </p:pic>
      <p:sp>
        <p:nvSpPr>
          <p:cNvPr id="8" name="Text 5"/>
          <p:cNvSpPr txBox="1"/>
          <p:nvPr/>
        </p:nvSpPr>
        <p:spPr>
          <a:xfrm>
            <a:off x="731520" y="3657600"/>
            <a:ext cx="2240280" cy="292608"/>
          </a:xfrm>
          <a:prstGeom prst="rect">
            <a:avLst/>
          </a:prstGeom>
          <a:noFill/>
          <a:ln/>
        </p:spPr>
        <p:txBody>
          <a:bodyPr wrap="square" lIns="0" tIns="0" rIns="0" bIns="0" rtlCol="0" anchor="ctr"/>
          <a:lstStyle/>
          <a:p>
            <a:pPr marL="0" indent="0">
              <a:buNone/>
            </a:pPr>
            <a:r>
              <a:rPr lang="en-US" sz="1500" b="1" dirty="0">
                <a:solidFill>
                  <a:srgbClr val="16325C"/>
                </a:solidFill>
                <a:latin typeface="Calibri" pitchFamily="34" charset="0"/>
                <a:ea typeface="Calibri" pitchFamily="34" charset="-122"/>
                <a:cs typeface="Calibri" pitchFamily="34" charset="-120"/>
              </a:rPr>
              <a:t>MIRA Band</a:t>
            </a:r>
            <a:endParaRPr lang="en-US" sz="1500" dirty="0"/>
          </a:p>
        </p:txBody>
      </p:sp>
      <p:sp>
        <p:nvSpPr>
          <p:cNvPr id="9" name="Text 6"/>
          <p:cNvSpPr txBox="1"/>
          <p:nvPr/>
        </p:nvSpPr>
        <p:spPr>
          <a:xfrm>
            <a:off x="731520" y="3950208"/>
            <a:ext cx="2240280" cy="45720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Doimiy taqiladi: puls, SpO₂, tana harorati, faollik va uyqu.</a:t>
            </a:r>
            <a:endParaRPr lang="en-US" sz="1150" dirty="0"/>
          </a:p>
        </p:txBody>
      </p:sp>
      <p:sp>
        <p:nvSpPr>
          <p:cNvPr id="10" name="Shape 7"/>
          <p:cNvSpPr/>
          <p:nvPr/>
        </p:nvSpPr>
        <p:spPr>
          <a:xfrm>
            <a:off x="3367735" y="1691640"/>
            <a:ext cx="2606040" cy="2788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pic>
        <p:nvPicPr>
          <p:cNvPr id="11" name="Image 1" descr="/home/claude/mira/img/d_force.png"/>
          <p:cNvPicPr>
            <a:picLocks noChangeAspect="1"/>
          </p:cNvPicPr>
          <p:nvPr/>
        </p:nvPicPr>
        <p:blipFill>
          <a:blip r:embed="rId4"/>
          <a:stretch>
            <a:fillRect/>
          </a:stretch>
        </p:blipFill>
        <p:spPr>
          <a:xfrm>
            <a:off x="3459175" y="1783080"/>
            <a:ext cx="2423160" cy="1783080"/>
          </a:xfrm>
          <a:prstGeom prst="rect">
            <a:avLst/>
          </a:prstGeom>
        </p:spPr>
      </p:pic>
      <p:sp>
        <p:nvSpPr>
          <p:cNvPr id="12" name="Text 8"/>
          <p:cNvSpPr txBox="1"/>
          <p:nvPr/>
        </p:nvSpPr>
        <p:spPr>
          <a:xfrm>
            <a:off x="3550615" y="3657600"/>
            <a:ext cx="2240280" cy="292608"/>
          </a:xfrm>
          <a:prstGeom prst="rect">
            <a:avLst/>
          </a:prstGeom>
          <a:noFill/>
          <a:ln/>
        </p:spPr>
        <p:txBody>
          <a:bodyPr wrap="square" lIns="0" tIns="0" rIns="0" bIns="0" rtlCol="0" anchor="ctr"/>
          <a:lstStyle/>
          <a:p>
            <a:pPr marL="0" indent="0">
              <a:buNone/>
            </a:pPr>
            <a:r>
              <a:rPr lang="en-US" sz="1500" b="1" dirty="0">
                <a:solidFill>
                  <a:srgbClr val="16325C"/>
                </a:solidFill>
                <a:latin typeface="Calibri" pitchFamily="34" charset="0"/>
                <a:ea typeface="Calibri" pitchFamily="34" charset="-122"/>
                <a:cs typeface="Calibri" pitchFamily="34" charset="-120"/>
              </a:rPr>
              <a:t>MIRA Force</a:t>
            </a:r>
            <a:endParaRPr lang="en-US" sz="1500" dirty="0"/>
          </a:p>
        </p:txBody>
      </p:sp>
      <p:sp>
        <p:nvSpPr>
          <p:cNvPr id="13" name="Text 9"/>
          <p:cNvSpPr txBox="1"/>
          <p:nvPr/>
        </p:nvSpPr>
        <p:spPr>
          <a:xfrm>
            <a:off x="3550615" y="3950208"/>
            <a:ext cx="2240280" cy="45720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Qo‘l siqish va oyoq mashqlari kuchi — tiklanish dinamikasi.</a:t>
            </a:r>
            <a:endParaRPr lang="en-US" sz="1150" dirty="0"/>
          </a:p>
        </p:txBody>
      </p:sp>
      <p:sp>
        <p:nvSpPr>
          <p:cNvPr id="14" name="Shape 10"/>
          <p:cNvSpPr/>
          <p:nvPr/>
        </p:nvSpPr>
        <p:spPr>
          <a:xfrm>
            <a:off x="6186830" y="1691640"/>
            <a:ext cx="2606040" cy="2788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pic>
        <p:nvPicPr>
          <p:cNvPr id="15" name="Image 2" descr="/home/claude/mira/img/d_box.png"/>
          <p:cNvPicPr>
            <a:picLocks noChangeAspect="1"/>
          </p:cNvPicPr>
          <p:nvPr/>
        </p:nvPicPr>
        <p:blipFill>
          <a:blip r:embed="rId5"/>
          <a:stretch>
            <a:fillRect/>
          </a:stretch>
        </p:blipFill>
        <p:spPr>
          <a:xfrm>
            <a:off x="6278270" y="1783080"/>
            <a:ext cx="2423160" cy="1783080"/>
          </a:xfrm>
          <a:prstGeom prst="rect">
            <a:avLst/>
          </a:prstGeom>
        </p:spPr>
      </p:pic>
      <p:sp>
        <p:nvSpPr>
          <p:cNvPr id="16" name="Text 11"/>
          <p:cNvSpPr txBox="1"/>
          <p:nvPr/>
        </p:nvSpPr>
        <p:spPr>
          <a:xfrm>
            <a:off x="6369710" y="3657600"/>
            <a:ext cx="2240280" cy="292608"/>
          </a:xfrm>
          <a:prstGeom prst="rect">
            <a:avLst/>
          </a:prstGeom>
          <a:noFill/>
          <a:ln/>
        </p:spPr>
        <p:txBody>
          <a:bodyPr wrap="square" lIns="0" tIns="0" rIns="0" bIns="0" rtlCol="0" anchor="ctr"/>
          <a:lstStyle/>
          <a:p>
            <a:pPr marL="0" indent="0">
              <a:buNone/>
            </a:pPr>
            <a:r>
              <a:rPr lang="en-US" sz="1500" b="1" dirty="0">
                <a:solidFill>
                  <a:srgbClr val="16325C"/>
                </a:solidFill>
                <a:latin typeface="Calibri" pitchFamily="34" charset="0"/>
                <a:ea typeface="Calibri" pitchFamily="34" charset="-122"/>
                <a:cs typeface="Calibri" pitchFamily="34" charset="-120"/>
              </a:rPr>
              <a:t>MIRA Box</a:t>
            </a:r>
            <a:endParaRPr lang="en-US" sz="1500" dirty="0"/>
          </a:p>
        </p:txBody>
      </p:sp>
      <p:sp>
        <p:nvSpPr>
          <p:cNvPr id="17" name="Text 12"/>
          <p:cNvSpPr txBox="1"/>
          <p:nvPr/>
        </p:nvSpPr>
        <p:spPr>
          <a:xfrm>
            <a:off x="6369710" y="3950208"/>
            <a:ext cx="2240280" cy="45720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Qon bosimi, qon tahlili (Hb, glyukoza) va xona sharoiti.</a:t>
            </a:r>
            <a:endParaRPr lang="en-US" sz="1150" dirty="0"/>
          </a:p>
        </p:txBody>
      </p:sp>
      <p:sp>
        <p:nvSpPr>
          <p:cNvPr id="18" name="Shape 13"/>
          <p:cNvSpPr/>
          <p:nvPr/>
        </p:nvSpPr>
        <p:spPr>
          <a:xfrm>
            <a:off x="9005926" y="1691640"/>
            <a:ext cx="2606040" cy="2788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pic>
        <p:nvPicPr>
          <p:cNvPr id="19" name="Image 3" descr="/home/claude/mira/img/d_phone.png"/>
          <p:cNvPicPr>
            <a:picLocks noChangeAspect="1"/>
          </p:cNvPicPr>
          <p:nvPr/>
        </p:nvPicPr>
        <p:blipFill>
          <a:blip r:embed="rId6"/>
          <a:stretch>
            <a:fillRect/>
          </a:stretch>
        </p:blipFill>
        <p:spPr>
          <a:xfrm>
            <a:off x="9097366" y="1783080"/>
            <a:ext cx="2423160" cy="1783080"/>
          </a:xfrm>
          <a:prstGeom prst="rect">
            <a:avLst/>
          </a:prstGeom>
        </p:spPr>
      </p:pic>
      <p:sp>
        <p:nvSpPr>
          <p:cNvPr id="20" name="Text 14"/>
          <p:cNvSpPr txBox="1"/>
          <p:nvPr/>
        </p:nvSpPr>
        <p:spPr>
          <a:xfrm>
            <a:off x="9188806" y="3657600"/>
            <a:ext cx="2240280" cy="292608"/>
          </a:xfrm>
          <a:prstGeom prst="rect">
            <a:avLst/>
          </a:prstGeom>
          <a:noFill/>
          <a:ln/>
        </p:spPr>
        <p:txBody>
          <a:bodyPr wrap="square" lIns="0" tIns="0" rIns="0" bIns="0" rtlCol="0" anchor="ctr"/>
          <a:lstStyle/>
          <a:p>
            <a:pPr marL="0" indent="0">
              <a:buNone/>
            </a:pPr>
            <a:r>
              <a:rPr lang="en-US" sz="1500" b="1" dirty="0">
                <a:solidFill>
                  <a:srgbClr val="16325C"/>
                </a:solidFill>
                <a:latin typeface="Calibri" pitchFamily="34" charset="0"/>
                <a:ea typeface="Calibri" pitchFamily="34" charset="-122"/>
                <a:cs typeface="Calibri" pitchFamily="34" charset="-120"/>
              </a:rPr>
              <a:t>Ilovalar</a:t>
            </a:r>
            <a:endParaRPr lang="en-US" sz="1500" dirty="0"/>
          </a:p>
        </p:txBody>
      </p:sp>
      <p:sp>
        <p:nvSpPr>
          <p:cNvPr id="21" name="Text 15"/>
          <p:cNvSpPr txBox="1"/>
          <p:nvPr/>
        </p:nvSpPr>
        <p:spPr>
          <a:xfrm>
            <a:off x="9188806" y="3950208"/>
            <a:ext cx="2240280" cy="45720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Bemorga tavsiya, shifokorga trend va xavf darajasi.</a:t>
            </a:r>
            <a:endParaRPr lang="en-US" sz="1150" dirty="0"/>
          </a:p>
        </p:txBody>
      </p:sp>
      <p:sp>
        <p:nvSpPr>
          <p:cNvPr id="22" name="Shape 16"/>
          <p:cNvSpPr/>
          <p:nvPr/>
        </p:nvSpPr>
        <p:spPr>
          <a:xfrm>
            <a:off x="548640" y="4663440"/>
            <a:ext cx="3593592" cy="1627632"/>
          </a:xfrm>
          <a:prstGeom prst="roundRect">
            <a:avLst>
              <a:gd name="adj" fmla="val 6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3" name="Shape 17"/>
          <p:cNvSpPr/>
          <p:nvPr/>
        </p:nvSpPr>
        <p:spPr>
          <a:xfrm>
            <a:off x="749808" y="4864608"/>
            <a:ext cx="502920" cy="502920"/>
          </a:xfrm>
          <a:prstGeom prst="ellipse">
            <a:avLst/>
          </a:prstGeom>
          <a:solidFill>
            <a:srgbClr val="2E9D6B"/>
          </a:solidFill>
          <a:ln w="12700">
            <a:solidFill>
              <a:srgbClr val="2E9D6B"/>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875538" y="4990338"/>
            <a:ext cx="251460" cy="251460"/>
          </a:xfrm>
          <a:prstGeom prst="rect">
            <a:avLst/>
          </a:prstGeom>
        </p:spPr>
      </p:pic>
      <p:sp>
        <p:nvSpPr>
          <p:cNvPr id="25" name="Text 18"/>
          <p:cNvSpPr txBox="1"/>
          <p:nvPr/>
        </p:nvSpPr>
        <p:spPr>
          <a:xfrm>
            <a:off x="1371600" y="4937760"/>
            <a:ext cx="2587752" cy="365760"/>
          </a:xfrm>
          <a:prstGeom prst="rect">
            <a:avLst/>
          </a:prstGeom>
          <a:noFill/>
          <a:ln/>
        </p:spPr>
        <p:txBody>
          <a:bodyPr wrap="square" lIns="0" tIns="0" rIns="0" bIns="0" rtlCol="0" anchor="ctr"/>
          <a:lstStyle/>
          <a:p>
            <a:pPr marL="0" indent="0">
              <a:buNone/>
            </a:pPr>
            <a:r>
              <a:rPr lang="en-US" sz="1600" b="1" dirty="0">
                <a:solidFill>
                  <a:srgbClr val="2E9D6B"/>
                </a:solidFill>
                <a:latin typeface="Calibri" pitchFamily="34" charset="0"/>
                <a:ea typeface="Calibri" pitchFamily="34" charset="-122"/>
                <a:cs typeface="Calibri" pitchFamily="34" charset="-120"/>
              </a:rPr>
              <a:t>Bemorga</a:t>
            </a:r>
            <a:endParaRPr lang="en-US" sz="1600" dirty="0"/>
          </a:p>
        </p:txBody>
      </p:sp>
      <p:sp>
        <p:nvSpPr>
          <p:cNvPr id="26" name="Text 19"/>
          <p:cNvSpPr txBox="1"/>
          <p:nvPr/>
        </p:nvSpPr>
        <p:spPr>
          <a:xfrm>
            <a:off x="777240" y="5468112"/>
            <a:ext cx="3182112" cy="77724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Uyda xavfsiz reabilitatsiya</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Tushunarli, qo‘rqitmaydigan tavsiyalar</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Xizmat bepul — shifoxona ta’minlaydi</a:t>
            </a:r>
            <a:endParaRPr lang="en-US" sz="1150" dirty="0"/>
          </a:p>
        </p:txBody>
      </p:sp>
      <p:sp>
        <p:nvSpPr>
          <p:cNvPr id="27" name="Shape 20"/>
          <p:cNvSpPr/>
          <p:nvPr/>
        </p:nvSpPr>
        <p:spPr>
          <a:xfrm>
            <a:off x="4297680" y="4663440"/>
            <a:ext cx="3593592" cy="1627632"/>
          </a:xfrm>
          <a:prstGeom prst="roundRect">
            <a:avLst>
              <a:gd name="adj" fmla="val 6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8" name="Shape 21"/>
          <p:cNvSpPr/>
          <p:nvPr/>
        </p:nvSpPr>
        <p:spPr>
          <a:xfrm>
            <a:off x="4498848" y="4864608"/>
            <a:ext cx="502920" cy="502920"/>
          </a:xfrm>
          <a:prstGeom prst="ellipse">
            <a:avLst/>
          </a:prstGeom>
          <a:solidFill>
            <a:srgbClr val="3D6FB6"/>
          </a:solidFill>
          <a:ln w="12700">
            <a:solidFill>
              <a:srgbClr val="3D6FB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4624578" y="4990338"/>
            <a:ext cx="251460" cy="251460"/>
          </a:xfrm>
          <a:prstGeom prst="rect">
            <a:avLst/>
          </a:prstGeom>
        </p:spPr>
      </p:pic>
      <p:sp>
        <p:nvSpPr>
          <p:cNvPr id="30" name="Text 22"/>
          <p:cNvSpPr txBox="1"/>
          <p:nvPr/>
        </p:nvSpPr>
        <p:spPr>
          <a:xfrm>
            <a:off x="5120640" y="4937760"/>
            <a:ext cx="2587752" cy="365760"/>
          </a:xfrm>
          <a:prstGeom prst="rect">
            <a:avLst/>
          </a:prstGeom>
          <a:noFill/>
          <a:ln/>
        </p:spPr>
        <p:txBody>
          <a:bodyPr wrap="square" lIns="0" tIns="0" rIns="0" bIns="0" rtlCol="0" anchor="ctr"/>
          <a:lstStyle/>
          <a:p>
            <a:pPr marL="0" indent="0">
              <a:buNone/>
            </a:pPr>
            <a:r>
              <a:rPr lang="en-US" sz="1600" b="1" dirty="0">
                <a:solidFill>
                  <a:srgbClr val="3D6FB6"/>
                </a:solidFill>
                <a:latin typeface="Calibri" pitchFamily="34" charset="0"/>
                <a:ea typeface="Calibri" pitchFamily="34" charset="-122"/>
                <a:cs typeface="Calibri" pitchFamily="34" charset="-120"/>
              </a:rPr>
              <a:t>Shifokorga</a:t>
            </a:r>
            <a:endParaRPr lang="en-US" sz="1600" dirty="0"/>
          </a:p>
        </p:txBody>
      </p:sp>
      <p:sp>
        <p:nvSpPr>
          <p:cNvPr id="31" name="Text 23"/>
          <p:cNvSpPr txBox="1"/>
          <p:nvPr/>
        </p:nvSpPr>
        <p:spPr>
          <a:xfrm>
            <a:off x="4526280" y="5468112"/>
            <a:ext cx="3182112" cy="77724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Xom raqamlar, trendlar, xavf darajasi</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AI risk-triaj — diagnoz emas, qarorga yordam</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Xavf oshsa — avtomatik ogohlantirish</a:t>
            </a:r>
            <a:endParaRPr lang="en-US" sz="1150" dirty="0"/>
          </a:p>
        </p:txBody>
      </p:sp>
      <p:sp>
        <p:nvSpPr>
          <p:cNvPr id="32" name="Shape 24"/>
          <p:cNvSpPr/>
          <p:nvPr/>
        </p:nvSpPr>
        <p:spPr>
          <a:xfrm>
            <a:off x="8046720" y="4663440"/>
            <a:ext cx="3593592" cy="1627632"/>
          </a:xfrm>
          <a:prstGeom prst="roundRect">
            <a:avLst>
              <a:gd name="adj" fmla="val 6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33" name="Shape 25"/>
          <p:cNvSpPr/>
          <p:nvPr/>
        </p:nvSpPr>
        <p:spPr>
          <a:xfrm>
            <a:off x="8247888" y="4864608"/>
            <a:ext cx="502920" cy="502920"/>
          </a:xfrm>
          <a:prstGeom prst="ellipse">
            <a:avLst/>
          </a:prstGeom>
          <a:solidFill>
            <a:srgbClr val="16325C"/>
          </a:solidFill>
          <a:ln w="12700">
            <a:solidFill>
              <a:srgbClr val="16325C"/>
            </a:solidFill>
            <a:prstDash val="solid"/>
          </a:ln>
        </p:spPr>
        <p:txBody>
          <a:bodyPr/>
          <a:lstStyle/>
          <a:p>
            <a:endParaRPr lang="en-US"/>
          </a:p>
        </p:txBody>
      </p:sp>
      <p:pic>
        <p:nvPicPr>
          <p:cNvPr id="34" name="Image 6" descr="preencoded.png"/>
          <p:cNvPicPr>
            <a:picLocks noChangeAspect="1"/>
          </p:cNvPicPr>
          <p:nvPr/>
        </p:nvPicPr>
        <p:blipFill>
          <a:blip r:embed="rId9"/>
          <a:stretch>
            <a:fillRect/>
          </a:stretch>
        </p:blipFill>
        <p:spPr>
          <a:xfrm>
            <a:off x="8373618" y="4990338"/>
            <a:ext cx="251460" cy="251460"/>
          </a:xfrm>
          <a:prstGeom prst="rect">
            <a:avLst/>
          </a:prstGeom>
        </p:spPr>
      </p:pic>
      <p:sp>
        <p:nvSpPr>
          <p:cNvPr id="35" name="Text 26"/>
          <p:cNvSpPr txBox="1"/>
          <p:nvPr/>
        </p:nvSpPr>
        <p:spPr>
          <a:xfrm>
            <a:off x="8869680" y="4937760"/>
            <a:ext cx="2587752" cy="365760"/>
          </a:xfrm>
          <a:prstGeom prst="rect">
            <a:avLst/>
          </a:prstGeom>
          <a:noFill/>
          <a:ln/>
        </p:spPr>
        <p:txBody>
          <a:bodyPr wrap="square" lIns="0" tIns="0" rIns="0" bIns="0" rtlCol="0" anchor="ctr"/>
          <a:lstStyle/>
          <a:p>
            <a:pPr marL="0" indent="0">
              <a:buNone/>
            </a:pPr>
            <a:r>
              <a:rPr lang="en-US" sz="1600" b="1" dirty="0">
                <a:solidFill>
                  <a:srgbClr val="16325C"/>
                </a:solidFill>
                <a:latin typeface="Calibri" pitchFamily="34" charset="0"/>
                <a:ea typeface="Calibri" pitchFamily="34" charset="-122"/>
                <a:cs typeface="Calibri" pitchFamily="34" charset="-120"/>
              </a:rPr>
              <a:t>Shifoxonaga</a:t>
            </a:r>
            <a:endParaRPr lang="en-US" sz="1600" dirty="0"/>
          </a:p>
        </p:txBody>
      </p:sp>
      <p:sp>
        <p:nvSpPr>
          <p:cNvPr id="36" name="Text 27"/>
          <p:cNvSpPr txBox="1"/>
          <p:nvPr/>
        </p:nvSpPr>
        <p:spPr>
          <a:xfrm>
            <a:off x="8275320" y="5468112"/>
            <a:ext cx="3182112" cy="77724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Uyga chiqarilgan bemor nazoratda qoladi</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Qurilmalar qayta ishlatiladi — ijara modeli</a:t>
            </a:r>
            <a:endParaRPr lang="en-US" sz="1150" dirty="0"/>
          </a:p>
          <a:p>
            <a:pPr marL="152400" indent="-152400">
              <a:spcAft>
                <a:spcPts val="200"/>
              </a:spcAft>
              <a:buSzPct val="100000"/>
              <a:buChar char="•"/>
            </a:pPr>
            <a:r>
              <a:rPr lang="en-US" sz="1150" dirty="0">
                <a:solidFill>
                  <a:srgbClr val="1A2233"/>
                </a:solidFill>
                <a:latin typeface="Calibri" pitchFamily="34" charset="0"/>
                <a:ea typeface="Calibri" pitchFamily="34" charset="-122"/>
                <a:cs typeface="Calibri" pitchFamily="34" charset="-120"/>
              </a:rPr>
              <a:t>Ma’lumot raqamlashtiriladi — elektron kartaga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03</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Hal qilayotgan muammo</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Davlat tibbiyotni raqamlashtirmoqda — lekin uydagi reabilitatsiya hali nazoratsiz va raqamsiz qolmoqda.</a:t>
            </a:r>
            <a:endParaRPr lang="en-US" sz="1500" dirty="0"/>
          </a:p>
        </p:txBody>
      </p:sp>
      <p:sp>
        <p:nvSpPr>
          <p:cNvPr id="6" name="Shape 4"/>
          <p:cNvSpPr/>
          <p:nvPr/>
        </p:nvSpPr>
        <p:spPr>
          <a:xfrm>
            <a:off x="548640" y="1691640"/>
            <a:ext cx="11091672" cy="1417320"/>
          </a:xfrm>
          <a:prstGeom prst="roundRect">
            <a:avLst>
              <a:gd name="adj" fmla="val 7742"/>
            </a:avLst>
          </a:prstGeom>
          <a:solidFill>
            <a:srgbClr val="0E1B33"/>
          </a:solidFill>
          <a:ln w="9525">
            <a:solidFill>
              <a:srgbClr val="0E1B33"/>
            </a:solidFill>
            <a:prstDash val="solid"/>
          </a:ln>
          <a:effectLst>
            <a:outerShdw blurRad="177800" dist="38100" dir="5400000" algn="bl" rotWithShape="0">
              <a:srgbClr val="1A2233">
                <a:alpha val="10000"/>
              </a:srgbClr>
            </a:outerShdw>
          </a:effectLst>
        </p:spPr>
        <p:txBody>
          <a:bodyPr/>
          <a:lstStyle/>
          <a:p>
            <a:endParaRPr lang="en-US"/>
          </a:p>
        </p:txBody>
      </p:sp>
      <p:sp>
        <p:nvSpPr>
          <p:cNvPr id="7" name="Shape 5"/>
          <p:cNvSpPr/>
          <p:nvPr/>
        </p:nvSpPr>
        <p:spPr>
          <a:xfrm>
            <a:off x="777240" y="1920240"/>
            <a:ext cx="548640" cy="548640"/>
          </a:xfrm>
          <a:prstGeom prst="ellipse">
            <a:avLst/>
          </a:prstGeom>
          <a:solidFill>
            <a:srgbClr val="E0453A"/>
          </a:solidFill>
          <a:ln w="12700">
            <a:solidFill>
              <a:srgbClr val="E045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2057400"/>
            <a:ext cx="274320" cy="274320"/>
          </a:xfrm>
          <a:prstGeom prst="rect">
            <a:avLst/>
          </a:prstGeom>
        </p:spPr>
      </p:pic>
      <p:sp>
        <p:nvSpPr>
          <p:cNvPr id="9" name="Text 6"/>
          <p:cNvSpPr txBox="1"/>
          <p:nvPr/>
        </p:nvSpPr>
        <p:spPr>
          <a:xfrm>
            <a:off x="731520" y="2560320"/>
            <a:ext cx="1463040" cy="4572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Davlat ustuvorligi</a:t>
            </a:r>
            <a:endParaRPr lang="en-US" sz="1200" dirty="0"/>
          </a:p>
        </p:txBody>
      </p:sp>
      <p:sp>
        <p:nvSpPr>
          <p:cNvPr id="10" name="Text 7"/>
          <p:cNvSpPr txBox="1"/>
          <p:nvPr/>
        </p:nvSpPr>
        <p:spPr>
          <a:xfrm>
            <a:off x="2331720" y="1874520"/>
            <a:ext cx="2286000" cy="1097280"/>
          </a:xfrm>
          <a:prstGeom prst="rect">
            <a:avLst/>
          </a:prstGeom>
          <a:noFill/>
          <a:ln/>
        </p:spPr>
        <p:txBody>
          <a:bodyPr wrap="square" lIns="0" tIns="0" rIns="0" bIns="0" rtlCol="0" anchor="t"/>
          <a:lstStyle/>
          <a:p>
            <a:pPr marL="0" indent="0">
              <a:spcAft>
                <a:spcPts val="300"/>
              </a:spcAft>
              <a:buNone/>
            </a:pPr>
            <a:r>
              <a:rPr lang="en-US" sz="1150" b="1" dirty="0">
                <a:solidFill>
                  <a:srgbClr val="FFFFFF"/>
                </a:solidFill>
                <a:latin typeface="Calibri" pitchFamily="34" charset="0"/>
                <a:ea typeface="Calibri" pitchFamily="34" charset="-122"/>
                <a:cs typeface="Calibri" pitchFamily="34" charset="-120"/>
              </a:rPr>
              <a:t>Prezidentning PQ-4642-son qarori</a:t>
            </a:r>
            <a:endParaRPr lang="en-US" sz="1150" dirty="0"/>
          </a:p>
          <a:p>
            <a:pPr marL="0" indent="0">
              <a:spcAft>
                <a:spcPts val="300"/>
              </a:spcAft>
              <a:buNone/>
            </a:pPr>
            <a:r>
              <a:rPr lang="en-US" sz="1050" dirty="0">
                <a:solidFill>
                  <a:srgbClr val="9FB3D1"/>
                </a:solidFill>
                <a:latin typeface="Calibri" pitchFamily="34" charset="0"/>
                <a:ea typeface="Calibri" pitchFamily="34" charset="-122"/>
                <a:cs typeface="Calibri" pitchFamily="34" charset="-120"/>
              </a:rPr>
              <a:t>(17.03.2020, PQ-5199 tahririda)</a:t>
            </a:r>
            <a:endParaRPr lang="en-US" sz="1150" dirty="0"/>
          </a:p>
          <a:p>
            <a:pPr marL="0" indent="0">
              <a:spcAft>
                <a:spcPts val="300"/>
              </a:spcAft>
              <a:buNone/>
            </a:pPr>
            <a:r>
              <a:rPr lang="en-US" sz="1150" dirty="0">
                <a:solidFill>
                  <a:srgbClr val="D5DEEC"/>
                </a:solidFill>
                <a:latin typeface="Calibri" pitchFamily="34" charset="0"/>
                <a:ea typeface="Calibri" pitchFamily="34" charset="-122"/>
                <a:cs typeface="Calibri" pitchFamily="34" charset="-120"/>
              </a:rPr>
              <a:t>«Yagona elektron tibbiy karta» va «Elektron retsept» tizimlarini joriy etish</a:t>
            </a:r>
            <a:endParaRPr lang="en-US" sz="1150" dirty="0"/>
          </a:p>
        </p:txBody>
      </p:sp>
      <p:sp>
        <p:nvSpPr>
          <p:cNvPr id="11" name="Shape 8"/>
          <p:cNvSpPr/>
          <p:nvPr/>
        </p:nvSpPr>
        <p:spPr>
          <a:xfrm>
            <a:off x="4709160" y="1920240"/>
            <a:ext cx="0" cy="960120"/>
          </a:xfrm>
          <a:prstGeom prst="line">
            <a:avLst/>
          </a:prstGeom>
          <a:noFill/>
          <a:ln w="9525">
            <a:solidFill>
              <a:srgbClr val="2A3D60"/>
            </a:solidFill>
            <a:prstDash val="solid"/>
          </a:ln>
        </p:spPr>
        <p:txBody>
          <a:bodyPr/>
          <a:lstStyle/>
          <a:p>
            <a:endParaRPr lang="en-US"/>
          </a:p>
        </p:txBody>
      </p:sp>
      <p:sp>
        <p:nvSpPr>
          <p:cNvPr id="12" name="Text 9"/>
          <p:cNvSpPr txBox="1"/>
          <p:nvPr/>
        </p:nvSpPr>
        <p:spPr>
          <a:xfrm>
            <a:off x="4818888" y="1874520"/>
            <a:ext cx="2286000" cy="1097280"/>
          </a:xfrm>
          <a:prstGeom prst="rect">
            <a:avLst/>
          </a:prstGeom>
          <a:noFill/>
          <a:ln/>
        </p:spPr>
        <p:txBody>
          <a:bodyPr wrap="square" lIns="0" tIns="0" rIns="0" bIns="0" rtlCol="0" anchor="t"/>
          <a:lstStyle/>
          <a:p>
            <a:pPr marL="0" indent="0">
              <a:spcAft>
                <a:spcPts val="300"/>
              </a:spcAft>
              <a:buNone/>
            </a:pPr>
            <a:r>
              <a:rPr lang="en-US" sz="1150" b="1" dirty="0">
                <a:solidFill>
                  <a:srgbClr val="FFFFFF"/>
                </a:solidFill>
                <a:latin typeface="Calibri" pitchFamily="34" charset="0"/>
                <a:ea typeface="Calibri" pitchFamily="34" charset="-122"/>
                <a:cs typeface="Calibri" pitchFamily="34" charset="-120"/>
              </a:rPr>
              <a:t>Vazirlar Mahkamasining 570-son qarori</a:t>
            </a:r>
            <a:endParaRPr lang="en-US" sz="1150" dirty="0"/>
          </a:p>
          <a:p>
            <a:pPr marL="0" indent="0">
              <a:spcAft>
                <a:spcPts val="300"/>
              </a:spcAft>
              <a:buNone/>
            </a:pPr>
            <a:r>
              <a:rPr lang="en-US" sz="1050" dirty="0">
                <a:solidFill>
                  <a:srgbClr val="9FB3D1"/>
                </a:solidFill>
                <a:latin typeface="Calibri" pitchFamily="34" charset="0"/>
                <a:ea typeface="Calibri" pitchFamily="34" charset="-122"/>
                <a:cs typeface="Calibri" pitchFamily="34" charset="-120"/>
              </a:rPr>
              <a:t>(08.09.2025)</a:t>
            </a:r>
            <a:endParaRPr lang="en-US" sz="1150" dirty="0"/>
          </a:p>
          <a:p>
            <a:pPr marL="0" indent="0">
              <a:spcAft>
                <a:spcPts val="300"/>
              </a:spcAft>
              <a:buNone/>
            </a:pPr>
            <a:r>
              <a:rPr lang="en-US" sz="1150" dirty="0">
                <a:solidFill>
                  <a:srgbClr val="D5DEEC"/>
                </a:solidFill>
                <a:latin typeface="Calibri" pitchFamily="34" charset="0"/>
                <a:ea typeface="Calibri" pitchFamily="34" charset="-122"/>
                <a:cs typeface="Calibri" pitchFamily="34" charset="-120"/>
              </a:rPr>
              <a:t>Barcha tibbiyot tashkilotlari Raqamli sog‘liqni saqlash platformasiga ulanadi</a:t>
            </a:r>
            <a:endParaRPr lang="en-US" sz="1150" dirty="0"/>
          </a:p>
        </p:txBody>
      </p:sp>
      <p:sp>
        <p:nvSpPr>
          <p:cNvPr id="13" name="Shape 10"/>
          <p:cNvSpPr/>
          <p:nvPr/>
        </p:nvSpPr>
        <p:spPr>
          <a:xfrm>
            <a:off x="7196328" y="1920240"/>
            <a:ext cx="0" cy="960120"/>
          </a:xfrm>
          <a:prstGeom prst="line">
            <a:avLst/>
          </a:prstGeom>
          <a:noFill/>
          <a:ln w="9525">
            <a:solidFill>
              <a:srgbClr val="2A3D60"/>
            </a:solidFill>
            <a:prstDash val="solid"/>
          </a:ln>
        </p:spPr>
        <p:txBody>
          <a:bodyPr/>
          <a:lstStyle/>
          <a:p>
            <a:endParaRPr lang="en-US"/>
          </a:p>
        </p:txBody>
      </p:sp>
      <p:sp>
        <p:nvSpPr>
          <p:cNvPr id="14" name="Text 11"/>
          <p:cNvSpPr txBox="1"/>
          <p:nvPr/>
        </p:nvSpPr>
        <p:spPr>
          <a:xfrm>
            <a:off x="7306056" y="1874520"/>
            <a:ext cx="2286000" cy="1097280"/>
          </a:xfrm>
          <a:prstGeom prst="rect">
            <a:avLst/>
          </a:prstGeom>
          <a:noFill/>
          <a:ln/>
        </p:spPr>
        <p:txBody>
          <a:bodyPr wrap="square" lIns="0" tIns="0" rIns="0" bIns="0" rtlCol="0" anchor="t"/>
          <a:lstStyle/>
          <a:p>
            <a:pPr marL="0" indent="0">
              <a:spcAft>
                <a:spcPts val="300"/>
              </a:spcAft>
              <a:buNone/>
            </a:pPr>
            <a:r>
              <a:rPr lang="en-US" sz="1150" b="1" dirty="0">
                <a:solidFill>
                  <a:srgbClr val="FFFFFF"/>
                </a:solidFill>
                <a:latin typeface="Calibri" pitchFamily="34" charset="0"/>
                <a:ea typeface="Calibri" pitchFamily="34" charset="-122"/>
                <a:cs typeface="Calibri" pitchFamily="34" charset="-120"/>
              </a:rPr>
              <a:t>«Infarkt va insultga qarshi kurash» dasturi</a:t>
            </a:r>
            <a:endParaRPr lang="en-US" sz="1150" dirty="0"/>
          </a:p>
          <a:p>
            <a:pPr marL="0" indent="0">
              <a:spcAft>
                <a:spcPts val="300"/>
              </a:spcAft>
              <a:buNone/>
            </a:pPr>
            <a:r>
              <a:rPr lang="en-US" sz="1050" dirty="0">
                <a:solidFill>
                  <a:srgbClr val="9FB3D1"/>
                </a:solidFill>
                <a:latin typeface="Calibri" pitchFamily="34" charset="0"/>
                <a:ea typeface="Calibri" pitchFamily="34" charset="-122"/>
                <a:cs typeface="Calibri" pitchFamily="34" charset="-120"/>
              </a:rPr>
              <a:t>(Prezident, 20.01.2026)</a:t>
            </a:r>
            <a:endParaRPr lang="en-US" sz="1150" dirty="0"/>
          </a:p>
          <a:p>
            <a:pPr marL="0" indent="0">
              <a:spcAft>
                <a:spcPts val="300"/>
              </a:spcAft>
              <a:buNone/>
            </a:pPr>
            <a:r>
              <a:rPr lang="en-US" sz="1150" dirty="0">
                <a:solidFill>
                  <a:srgbClr val="D5DEEC"/>
                </a:solidFill>
                <a:latin typeface="Calibri" pitchFamily="34" charset="0"/>
                <a:ea typeface="Calibri" pitchFamily="34" charset="-122"/>
                <a:cs typeface="Calibri" pitchFamily="34" charset="-120"/>
              </a:rPr>
              <a:t>Namangan viloyatida 2026-yil 1-oktabrdan boshlanadi</a:t>
            </a:r>
            <a:endParaRPr lang="en-US" sz="1150" dirty="0"/>
          </a:p>
        </p:txBody>
      </p:sp>
      <p:sp>
        <p:nvSpPr>
          <p:cNvPr id="15" name="Shape 12"/>
          <p:cNvSpPr/>
          <p:nvPr/>
        </p:nvSpPr>
        <p:spPr>
          <a:xfrm>
            <a:off x="9802368" y="1856232"/>
            <a:ext cx="1700784" cy="1088136"/>
          </a:xfrm>
          <a:prstGeom prst="roundRect">
            <a:avLst>
              <a:gd name="adj" fmla="val 6723"/>
            </a:avLst>
          </a:prstGeom>
          <a:solidFill>
            <a:srgbClr val="E0453A"/>
          </a:solidFill>
          <a:ln w="12700">
            <a:solidFill>
              <a:srgbClr val="E0453A"/>
            </a:solidFill>
            <a:prstDash val="solid"/>
          </a:ln>
        </p:spPr>
        <p:txBody>
          <a:bodyPr/>
          <a:lstStyle/>
          <a:p>
            <a:endParaRPr lang="en-US"/>
          </a:p>
        </p:txBody>
      </p:sp>
      <p:sp>
        <p:nvSpPr>
          <p:cNvPr id="16" name="Text 13"/>
          <p:cNvSpPr txBox="1"/>
          <p:nvPr/>
        </p:nvSpPr>
        <p:spPr>
          <a:xfrm>
            <a:off x="9912096" y="1929384"/>
            <a:ext cx="1499616" cy="9418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MIRA hissasi</a:t>
            </a:r>
            <a:endParaRPr lang="en-US" sz="1200" dirty="0"/>
          </a:p>
          <a:p>
            <a:pPr marL="0" indent="0">
              <a:buNone/>
            </a:pPr>
            <a:r>
              <a:rPr lang="en-US" sz="1050" dirty="0">
                <a:solidFill>
                  <a:srgbClr val="FFFFFF"/>
                </a:solidFill>
                <a:latin typeface="Calibri" pitchFamily="34" charset="0"/>
                <a:ea typeface="Calibri" pitchFamily="34" charset="-122"/>
                <a:cs typeface="Calibri" pitchFamily="34" charset="-120"/>
              </a:rPr>
              <a:t>uydagi reabilitatsiya ma’lumotini raqamlashtiradi va elektron kartaga uzatadi</a:t>
            </a:r>
            <a:endParaRPr lang="en-US" sz="1200" dirty="0"/>
          </a:p>
        </p:txBody>
      </p:sp>
      <p:sp>
        <p:nvSpPr>
          <p:cNvPr id="17" name="Shape 14"/>
          <p:cNvSpPr/>
          <p:nvPr/>
        </p:nvSpPr>
        <p:spPr>
          <a:xfrm>
            <a:off x="548640" y="3291840"/>
            <a:ext cx="6583680"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8" name="Shape 15"/>
          <p:cNvSpPr/>
          <p:nvPr/>
        </p:nvSpPr>
        <p:spPr>
          <a:xfrm>
            <a:off x="804672" y="3566160"/>
            <a:ext cx="566928" cy="566928"/>
          </a:xfrm>
          <a:prstGeom prst="ellipse">
            <a:avLst/>
          </a:prstGeom>
          <a:solidFill>
            <a:srgbClr val="E0453A"/>
          </a:solidFill>
          <a:ln w="12700">
            <a:solidFill>
              <a:srgbClr val="E0453A"/>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946404" y="3707892"/>
            <a:ext cx="283464" cy="283464"/>
          </a:xfrm>
          <a:prstGeom prst="rect">
            <a:avLst/>
          </a:prstGeom>
        </p:spPr>
      </p:pic>
      <p:sp>
        <p:nvSpPr>
          <p:cNvPr id="20" name="Text 16"/>
          <p:cNvSpPr txBox="1"/>
          <p:nvPr/>
        </p:nvSpPr>
        <p:spPr>
          <a:xfrm>
            <a:off x="1572768" y="3474720"/>
            <a:ext cx="2743200" cy="228600"/>
          </a:xfrm>
          <a:prstGeom prst="rect">
            <a:avLst/>
          </a:prstGeom>
          <a:noFill/>
          <a:ln/>
        </p:spPr>
        <p:txBody>
          <a:bodyPr wrap="square" lIns="0" tIns="0" rIns="0" bIns="0" rtlCol="0" anchor="ctr"/>
          <a:lstStyle/>
          <a:p>
            <a:pPr marL="0" indent="0">
              <a:buNone/>
            </a:pPr>
            <a:r>
              <a:rPr lang="en-US" sz="1000" b="1" kern="0" spc="100" dirty="0">
                <a:solidFill>
                  <a:srgbClr val="E0453A"/>
                </a:solidFill>
                <a:latin typeface="Calibri" pitchFamily="34" charset="0"/>
                <a:ea typeface="Calibri" pitchFamily="34" charset="-122"/>
                <a:cs typeface="Calibri" pitchFamily="34" charset="-120"/>
              </a:rPr>
              <a:t>MUAMMO 1</a:t>
            </a:r>
            <a:endParaRPr lang="en-US" sz="1000" dirty="0"/>
          </a:p>
        </p:txBody>
      </p:sp>
      <p:sp>
        <p:nvSpPr>
          <p:cNvPr id="21" name="Text 17"/>
          <p:cNvSpPr txBox="1"/>
          <p:nvPr/>
        </p:nvSpPr>
        <p:spPr>
          <a:xfrm>
            <a:off x="1572768" y="3694176"/>
            <a:ext cx="5349240" cy="32918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Nazoratsiz reabilitatsiya — qaytalanish va nogironlik</a:t>
            </a:r>
            <a:endParaRPr lang="en-US" sz="1600" dirty="0"/>
          </a:p>
        </p:txBody>
      </p:sp>
      <p:sp>
        <p:nvSpPr>
          <p:cNvPr id="22" name="Text 18"/>
          <p:cNvSpPr txBox="1"/>
          <p:nvPr/>
        </p:nvSpPr>
        <p:spPr>
          <a:xfrm>
            <a:off x="1572768" y="4050792"/>
            <a:ext cx="5349240" cy="603504"/>
          </a:xfrm>
          <a:prstGeom prst="rect">
            <a:avLst/>
          </a:prstGeom>
          <a:noFill/>
          <a:ln/>
        </p:spPr>
        <p:txBody>
          <a:bodyPr wrap="square" lIns="0" tIns="0" rIns="0" bIns="0" rtlCol="0" anchor="t"/>
          <a:lstStyle/>
          <a:p>
            <a:pPr marL="0" indent="0">
              <a:buNone/>
            </a:pPr>
            <a:r>
              <a:rPr lang="en-US" sz="1200" dirty="0">
                <a:solidFill>
                  <a:srgbClr val="5E6B80"/>
                </a:solidFill>
                <a:latin typeface="Calibri" pitchFamily="34" charset="0"/>
                <a:ea typeface="Calibri" pitchFamily="34" charset="-122"/>
                <a:cs typeface="Calibri" pitchFamily="34" charset="-120"/>
              </a:rPr>
              <a:t>Insult va infarktdan keyin uyda mashq, dori va ko‘rsatkichlar nazoratsiz qoladi. Natijada qayta xuruj, asorat va nogironlik xavfi oshadi.</a:t>
            </a:r>
            <a:endParaRPr lang="en-US" sz="1200" dirty="0"/>
          </a:p>
        </p:txBody>
      </p:sp>
      <p:sp>
        <p:nvSpPr>
          <p:cNvPr id="23" name="Shape 19"/>
          <p:cNvSpPr/>
          <p:nvPr/>
        </p:nvSpPr>
        <p:spPr>
          <a:xfrm>
            <a:off x="548640" y="4828032"/>
            <a:ext cx="6583680"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4" name="Shape 20"/>
          <p:cNvSpPr/>
          <p:nvPr/>
        </p:nvSpPr>
        <p:spPr>
          <a:xfrm>
            <a:off x="804672" y="5102352"/>
            <a:ext cx="566928" cy="566928"/>
          </a:xfrm>
          <a:prstGeom prst="ellipse">
            <a:avLst/>
          </a:prstGeom>
          <a:solidFill>
            <a:srgbClr val="E0453A"/>
          </a:solidFill>
          <a:ln w="12700">
            <a:solidFill>
              <a:srgbClr val="E0453A"/>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946404" y="5244084"/>
            <a:ext cx="283464" cy="283464"/>
          </a:xfrm>
          <a:prstGeom prst="rect">
            <a:avLst/>
          </a:prstGeom>
        </p:spPr>
      </p:pic>
      <p:sp>
        <p:nvSpPr>
          <p:cNvPr id="26" name="Text 21"/>
          <p:cNvSpPr txBox="1"/>
          <p:nvPr/>
        </p:nvSpPr>
        <p:spPr>
          <a:xfrm>
            <a:off x="1572768" y="5010912"/>
            <a:ext cx="2743200" cy="228600"/>
          </a:xfrm>
          <a:prstGeom prst="rect">
            <a:avLst/>
          </a:prstGeom>
          <a:noFill/>
          <a:ln/>
        </p:spPr>
        <p:txBody>
          <a:bodyPr wrap="square" lIns="0" tIns="0" rIns="0" bIns="0" rtlCol="0" anchor="ctr"/>
          <a:lstStyle/>
          <a:p>
            <a:pPr marL="0" indent="0">
              <a:buNone/>
            </a:pPr>
            <a:r>
              <a:rPr lang="en-US" sz="1000" b="1" kern="0" spc="100" dirty="0">
                <a:solidFill>
                  <a:srgbClr val="E0453A"/>
                </a:solidFill>
                <a:latin typeface="Calibri" pitchFamily="34" charset="0"/>
                <a:ea typeface="Calibri" pitchFamily="34" charset="-122"/>
                <a:cs typeface="Calibri" pitchFamily="34" charset="-120"/>
              </a:rPr>
              <a:t>MUAMMO 2</a:t>
            </a:r>
            <a:endParaRPr lang="en-US" sz="1000" dirty="0"/>
          </a:p>
        </p:txBody>
      </p:sp>
      <p:sp>
        <p:nvSpPr>
          <p:cNvPr id="27" name="Text 22"/>
          <p:cNvSpPr txBox="1"/>
          <p:nvPr/>
        </p:nvSpPr>
        <p:spPr>
          <a:xfrm>
            <a:off x="1572768" y="5230368"/>
            <a:ext cx="5349240" cy="32918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Uydagi ma’lumot raqamlashtirilmagan</a:t>
            </a:r>
            <a:endParaRPr lang="en-US" sz="1600" dirty="0"/>
          </a:p>
        </p:txBody>
      </p:sp>
      <p:sp>
        <p:nvSpPr>
          <p:cNvPr id="28" name="Text 23"/>
          <p:cNvSpPr txBox="1"/>
          <p:nvPr/>
        </p:nvSpPr>
        <p:spPr>
          <a:xfrm>
            <a:off x="1572768" y="5586984"/>
            <a:ext cx="5349240" cy="603504"/>
          </a:xfrm>
          <a:prstGeom prst="rect">
            <a:avLst/>
          </a:prstGeom>
          <a:noFill/>
          <a:ln/>
        </p:spPr>
        <p:txBody>
          <a:bodyPr wrap="square" lIns="0" tIns="0" rIns="0" bIns="0" rtlCol="0" anchor="t"/>
          <a:lstStyle/>
          <a:p>
            <a:pPr marL="0" indent="0">
              <a:buNone/>
            </a:pPr>
            <a:r>
              <a:rPr lang="en-US" sz="1200" dirty="0">
                <a:solidFill>
                  <a:srgbClr val="5E6B80"/>
                </a:solidFill>
                <a:latin typeface="Calibri" pitchFamily="34" charset="0"/>
                <a:ea typeface="Calibri" pitchFamily="34" charset="-122"/>
                <a:cs typeface="Calibri" pitchFamily="34" charset="-120"/>
              </a:rPr>
              <a:t>Reabilitatsiya davridagi ko‘rsatkichlar elektron tibbiy kartaga tushmaydi — shifokor holat o‘zgarishini kech ko‘radi.</a:t>
            </a:r>
            <a:endParaRPr lang="en-US" sz="1200" dirty="0"/>
          </a:p>
        </p:txBody>
      </p:sp>
      <p:sp>
        <p:nvSpPr>
          <p:cNvPr id="29" name="Shape 24"/>
          <p:cNvSpPr/>
          <p:nvPr/>
        </p:nvSpPr>
        <p:spPr>
          <a:xfrm>
            <a:off x="7360920" y="3291840"/>
            <a:ext cx="4279392" cy="2953512"/>
          </a:xfrm>
          <a:prstGeom prst="roundRect">
            <a:avLst>
              <a:gd name="adj" fmla="val 3715"/>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30" name="Text 25"/>
          <p:cNvSpPr txBox="1"/>
          <p:nvPr/>
        </p:nvSpPr>
        <p:spPr>
          <a:xfrm>
            <a:off x="7635240" y="3474720"/>
            <a:ext cx="3730752" cy="320040"/>
          </a:xfrm>
          <a:prstGeom prst="rect">
            <a:avLst/>
          </a:prstGeom>
          <a:noFill/>
          <a:ln/>
        </p:spPr>
        <p:txBody>
          <a:bodyPr wrap="square" lIns="0" tIns="0" rIns="0" bIns="0"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Nega reabilitatsiya hal qiluvchi?</a:t>
            </a:r>
            <a:endParaRPr lang="en-US" sz="1400" dirty="0"/>
          </a:p>
        </p:txBody>
      </p:sp>
      <p:sp>
        <p:nvSpPr>
          <p:cNvPr id="31" name="Text 26"/>
          <p:cNvSpPr txBox="1"/>
          <p:nvPr/>
        </p:nvSpPr>
        <p:spPr>
          <a:xfrm>
            <a:off x="7635240" y="3858768"/>
            <a:ext cx="1874520" cy="640080"/>
          </a:xfrm>
          <a:prstGeom prst="rect">
            <a:avLst/>
          </a:prstGeom>
          <a:noFill/>
          <a:ln/>
        </p:spPr>
        <p:txBody>
          <a:bodyPr wrap="square" lIns="0" tIns="0" rIns="0" bIns="0" rtlCol="0" anchor="ctr"/>
          <a:lstStyle/>
          <a:p>
            <a:pPr marL="0" indent="0">
              <a:buNone/>
            </a:pPr>
            <a:r>
              <a:rPr lang="en-US" sz="3800" b="1" dirty="0">
                <a:solidFill>
                  <a:srgbClr val="2E9D6B"/>
                </a:solidFill>
                <a:latin typeface="Calibri" pitchFamily="34" charset="0"/>
                <a:ea typeface="Calibri" pitchFamily="34" charset="-122"/>
                <a:cs typeface="Calibri" pitchFamily="34" charset="-120"/>
              </a:rPr>
              <a:t>−28%</a:t>
            </a:r>
            <a:endParaRPr lang="en-US" sz="3800" dirty="0"/>
          </a:p>
        </p:txBody>
      </p:sp>
      <p:sp>
        <p:nvSpPr>
          <p:cNvPr id="32" name="Text 27"/>
          <p:cNvSpPr txBox="1"/>
          <p:nvPr/>
        </p:nvSpPr>
        <p:spPr>
          <a:xfrm>
            <a:off x="7635240" y="4498848"/>
            <a:ext cx="1828800" cy="41148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qayta infarkt xavfi</a:t>
            </a:r>
            <a:endParaRPr lang="en-US" sz="1150" dirty="0"/>
          </a:p>
        </p:txBody>
      </p:sp>
      <p:sp>
        <p:nvSpPr>
          <p:cNvPr id="33" name="Text 28"/>
          <p:cNvSpPr txBox="1"/>
          <p:nvPr/>
        </p:nvSpPr>
        <p:spPr>
          <a:xfrm>
            <a:off x="9601200" y="3858768"/>
            <a:ext cx="1874520" cy="640080"/>
          </a:xfrm>
          <a:prstGeom prst="rect">
            <a:avLst/>
          </a:prstGeom>
          <a:noFill/>
          <a:ln/>
        </p:spPr>
        <p:txBody>
          <a:bodyPr wrap="square" lIns="0" tIns="0" rIns="0" bIns="0" rtlCol="0" anchor="ctr"/>
          <a:lstStyle/>
          <a:p>
            <a:pPr marL="0" indent="0">
              <a:buNone/>
            </a:pPr>
            <a:r>
              <a:rPr lang="en-US" sz="3800" b="1" dirty="0">
                <a:solidFill>
                  <a:srgbClr val="2E9D6B"/>
                </a:solidFill>
                <a:latin typeface="Calibri" pitchFamily="34" charset="0"/>
                <a:ea typeface="Calibri" pitchFamily="34" charset="-122"/>
                <a:cs typeface="Calibri" pitchFamily="34" charset="-120"/>
              </a:rPr>
              <a:t>−42%</a:t>
            </a:r>
            <a:endParaRPr lang="en-US" sz="3800" dirty="0"/>
          </a:p>
        </p:txBody>
      </p:sp>
      <p:sp>
        <p:nvSpPr>
          <p:cNvPr id="34" name="Text 29"/>
          <p:cNvSpPr txBox="1"/>
          <p:nvPr/>
        </p:nvSpPr>
        <p:spPr>
          <a:xfrm>
            <a:off x="9601200" y="4498848"/>
            <a:ext cx="1828800" cy="411480"/>
          </a:xfrm>
          <a:prstGeom prst="rect">
            <a:avLst/>
          </a:prstGeom>
          <a:noFill/>
          <a:ln/>
        </p:spPr>
        <p:txBody>
          <a:bodyPr wrap="square" lIns="0" tIns="0" rIns="0" bIns="0" rtlCol="0" anchor="t"/>
          <a:lstStyle/>
          <a:p>
            <a:pPr marL="0" indent="0">
              <a:buNone/>
            </a:pPr>
            <a:r>
              <a:rPr lang="en-US" sz="1150" dirty="0">
                <a:solidFill>
                  <a:srgbClr val="5E6B80"/>
                </a:solidFill>
                <a:latin typeface="Calibri" pitchFamily="34" charset="0"/>
                <a:ea typeface="Calibri" pitchFamily="34" charset="-122"/>
                <a:cs typeface="Calibri" pitchFamily="34" charset="-120"/>
              </a:rPr>
              <a:t>qayta kasalxonaga yotqizish</a:t>
            </a:r>
            <a:endParaRPr lang="en-US" sz="1150" dirty="0"/>
          </a:p>
        </p:txBody>
      </p:sp>
      <p:sp>
        <p:nvSpPr>
          <p:cNvPr id="35" name="Text 30"/>
          <p:cNvSpPr txBox="1"/>
          <p:nvPr/>
        </p:nvSpPr>
        <p:spPr>
          <a:xfrm>
            <a:off x="7635240" y="4919472"/>
            <a:ext cx="3730752" cy="256032"/>
          </a:xfrm>
          <a:prstGeom prst="rect">
            <a:avLst/>
          </a:prstGeom>
          <a:noFill/>
          <a:ln/>
        </p:spPr>
        <p:txBody>
          <a:bodyPr wrap="square" lIns="0" tIns="0" rIns="0" bIns="0" rtlCol="0" anchor="ctr"/>
          <a:lstStyle/>
          <a:p>
            <a:pPr marL="0" indent="0">
              <a:buNone/>
            </a:pPr>
            <a:r>
              <a:rPr lang="en-US" sz="1000" i="1" dirty="0">
                <a:solidFill>
                  <a:srgbClr val="5E6B80"/>
                </a:solidFill>
                <a:latin typeface="Calibri" pitchFamily="34" charset="0"/>
                <a:ea typeface="Calibri" pitchFamily="34" charset="-122"/>
                <a:cs typeface="Calibri" pitchFamily="34" charset="-120"/>
              </a:rPr>
              <a:t>nazoratli kardioreabilitatsiyada, 6–12 oy (Cochrane, 2021)</a:t>
            </a:r>
            <a:endParaRPr lang="en-US" sz="1000" dirty="0"/>
          </a:p>
        </p:txBody>
      </p:sp>
      <p:sp>
        <p:nvSpPr>
          <p:cNvPr id="36" name="Shape 31"/>
          <p:cNvSpPr/>
          <p:nvPr/>
        </p:nvSpPr>
        <p:spPr>
          <a:xfrm>
            <a:off x="7635240" y="5276088"/>
            <a:ext cx="3730752" cy="0"/>
          </a:xfrm>
          <a:prstGeom prst="line">
            <a:avLst/>
          </a:prstGeom>
          <a:noFill/>
          <a:ln w="9525">
            <a:solidFill>
              <a:srgbClr val="E1E6EE"/>
            </a:solidFill>
            <a:prstDash val="solid"/>
          </a:ln>
        </p:spPr>
        <p:txBody>
          <a:bodyPr/>
          <a:lstStyle/>
          <a:p>
            <a:endParaRPr lang="en-US"/>
          </a:p>
        </p:txBody>
      </p:sp>
      <p:sp>
        <p:nvSpPr>
          <p:cNvPr id="37" name="Text 32"/>
          <p:cNvSpPr txBox="1"/>
          <p:nvPr/>
        </p:nvSpPr>
        <p:spPr>
          <a:xfrm>
            <a:off x="7635240" y="5394960"/>
            <a:ext cx="3730752" cy="731520"/>
          </a:xfrm>
          <a:prstGeom prst="rect">
            <a:avLst/>
          </a:prstGeom>
          <a:noFill/>
          <a:ln/>
        </p:spPr>
        <p:txBody>
          <a:bodyPr wrap="square" lIns="0" tIns="0" rIns="0" bIns="0" rtlCol="0" anchor="t"/>
          <a:lstStyle/>
          <a:p>
            <a:pPr marL="0" indent="0">
              <a:buNone/>
            </a:pPr>
            <a:r>
              <a:rPr lang="en-US" sz="1200" b="1" dirty="0">
                <a:solidFill>
                  <a:srgbClr val="E0453A"/>
                </a:solidFill>
                <a:latin typeface="Calibri" pitchFamily="34" charset="0"/>
                <a:ea typeface="Calibri" pitchFamily="34" charset="-122"/>
                <a:cs typeface="Calibri" pitchFamily="34" charset="-120"/>
              </a:rPr>
              <a:t>Insult</a:t>
            </a:r>
            <a:r>
              <a:rPr lang="en-US" sz="1200" dirty="0">
                <a:solidFill>
                  <a:srgbClr val="1A2233"/>
                </a:solidFill>
                <a:latin typeface="Calibri" pitchFamily="34" charset="0"/>
                <a:ea typeface="Calibri" pitchFamily="34" charset="-122"/>
                <a:cs typeface="Calibri" pitchFamily="34" charset="-120"/>
              </a:rPr>
              <a:t> — dunyoda o‘lim va nogironlikning 3-asosiy sababi; har yili ~12 mln yangi holat (WSO, 2025).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04</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Bozor hajmi va maqsadli auditoriya</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Bozorni osmondan olingan raqam bilan emas, shifoxonalar soni bilan o‘lchaymiz: kattadan kichikka.</a:t>
            </a:r>
            <a:endParaRPr lang="en-US" sz="1500" dirty="0"/>
          </a:p>
        </p:txBody>
      </p:sp>
      <p:sp>
        <p:nvSpPr>
          <p:cNvPr id="6" name="Shape 4"/>
          <p:cNvSpPr/>
          <p:nvPr/>
        </p:nvSpPr>
        <p:spPr>
          <a:xfrm>
            <a:off x="822960" y="1737360"/>
            <a:ext cx="4480560" cy="4480560"/>
          </a:xfrm>
          <a:prstGeom prst="ellipse">
            <a:avLst/>
          </a:prstGeom>
          <a:solidFill>
            <a:srgbClr val="E8EEF7"/>
          </a:solidFill>
          <a:ln w="25400">
            <a:solidFill>
              <a:srgbClr val="FFFFFF"/>
            </a:solidFill>
            <a:prstDash val="solid"/>
          </a:ln>
        </p:spPr>
        <p:txBody>
          <a:bodyPr/>
          <a:lstStyle/>
          <a:p>
            <a:endParaRPr lang="en-US"/>
          </a:p>
        </p:txBody>
      </p:sp>
      <p:sp>
        <p:nvSpPr>
          <p:cNvPr id="7" name="Shape 5"/>
          <p:cNvSpPr/>
          <p:nvPr/>
        </p:nvSpPr>
        <p:spPr>
          <a:xfrm>
            <a:off x="1554480" y="2468880"/>
            <a:ext cx="3017520" cy="3017520"/>
          </a:xfrm>
          <a:prstGeom prst="ellipse">
            <a:avLst/>
          </a:prstGeom>
          <a:solidFill>
            <a:srgbClr val="C9D6EA"/>
          </a:solidFill>
          <a:ln w="25400">
            <a:solidFill>
              <a:srgbClr val="FFFFFF"/>
            </a:solidFill>
            <a:prstDash val="solid"/>
          </a:ln>
        </p:spPr>
        <p:txBody>
          <a:bodyPr/>
          <a:lstStyle/>
          <a:p>
            <a:endParaRPr lang="en-US"/>
          </a:p>
        </p:txBody>
      </p:sp>
      <p:sp>
        <p:nvSpPr>
          <p:cNvPr id="8" name="Shape 6"/>
          <p:cNvSpPr/>
          <p:nvPr/>
        </p:nvSpPr>
        <p:spPr>
          <a:xfrm>
            <a:off x="2240280" y="3154680"/>
            <a:ext cx="1645920" cy="1645920"/>
          </a:xfrm>
          <a:prstGeom prst="ellipse">
            <a:avLst/>
          </a:prstGeom>
          <a:solidFill>
            <a:srgbClr val="16325C"/>
          </a:solidFill>
          <a:ln w="25400">
            <a:solidFill>
              <a:srgbClr val="FFFFFF"/>
            </a:solidFill>
            <a:prstDash val="solid"/>
          </a:ln>
        </p:spPr>
        <p:txBody>
          <a:bodyPr/>
          <a:lstStyle/>
          <a:p>
            <a:endParaRPr lang="en-US"/>
          </a:p>
        </p:txBody>
      </p:sp>
      <p:sp>
        <p:nvSpPr>
          <p:cNvPr id="9" name="Text 7"/>
          <p:cNvSpPr txBox="1"/>
          <p:nvPr/>
        </p:nvSpPr>
        <p:spPr>
          <a:xfrm>
            <a:off x="2148840" y="1920240"/>
            <a:ext cx="1828800" cy="320040"/>
          </a:xfrm>
          <a:prstGeom prst="rect">
            <a:avLst/>
          </a:prstGeom>
          <a:noFill/>
          <a:ln/>
        </p:spPr>
        <p:txBody>
          <a:bodyPr wrap="square" lIns="0" tIns="0" rIns="0" bIns="0" rtlCol="0" anchor="ctr"/>
          <a:lstStyle/>
          <a:p>
            <a:pPr marL="0" indent="0" algn="ctr">
              <a:buNone/>
            </a:pPr>
            <a:r>
              <a:rPr lang="en-US" sz="1400" b="1" dirty="0">
                <a:solidFill>
                  <a:srgbClr val="16325C"/>
                </a:solidFill>
                <a:latin typeface="Calibri" pitchFamily="34" charset="0"/>
                <a:ea typeface="Calibri" pitchFamily="34" charset="-122"/>
                <a:cs typeface="Calibri" pitchFamily="34" charset="-120"/>
              </a:rPr>
              <a:t>O‘zbekiston</a:t>
            </a:r>
            <a:endParaRPr lang="en-US" sz="1400" dirty="0"/>
          </a:p>
        </p:txBody>
      </p:sp>
      <p:sp>
        <p:nvSpPr>
          <p:cNvPr id="10" name="Text 8"/>
          <p:cNvSpPr txBox="1"/>
          <p:nvPr/>
        </p:nvSpPr>
        <p:spPr>
          <a:xfrm>
            <a:off x="2148840" y="2633472"/>
            <a:ext cx="1828800" cy="320040"/>
          </a:xfrm>
          <a:prstGeom prst="rect">
            <a:avLst/>
          </a:prstGeom>
          <a:noFill/>
          <a:ln/>
        </p:spPr>
        <p:txBody>
          <a:bodyPr wrap="square" lIns="0" tIns="0" rIns="0" bIns="0" rtlCol="0" anchor="ctr"/>
          <a:lstStyle/>
          <a:p>
            <a:pPr marL="0" indent="0" algn="ctr">
              <a:buNone/>
            </a:pPr>
            <a:r>
              <a:rPr lang="en-US" sz="1400" b="1" dirty="0">
                <a:solidFill>
                  <a:srgbClr val="16325C"/>
                </a:solidFill>
                <a:latin typeface="Calibri" pitchFamily="34" charset="0"/>
                <a:ea typeface="Calibri" pitchFamily="34" charset="-122"/>
                <a:cs typeface="Calibri" pitchFamily="34" charset="-120"/>
              </a:rPr>
              <a:t>Namangan</a:t>
            </a:r>
            <a:endParaRPr lang="en-US" sz="1400" dirty="0"/>
          </a:p>
        </p:txBody>
      </p:sp>
      <p:sp>
        <p:nvSpPr>
          <p:cNvPr id="11" name="Text 9"/>
          <p:cNvSpPr txBox="1"/>
          <p:nvPr/>
        </p:nvSpPr>
        <p:spPr>
          <a:xfrm>
            <a:off x="2286000" y="3776472"/>
            <a:ext cx="155448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Birinchi 12 oy</a:t>
            </a:r>
            <a:endParaRPr lang="en-US" sz="1300" dirty="0"/>
          </a:p>
        </p:txBody>
      </p:sp>
      <p:sp>
        <p:nvSpPr>
          <p:cNvPr id="12" name="Shape 10"/>
          <p:cNvSpPr/>
          <p:nvPr/>
        </p:nvSpPr>
        <p:spPr>
          <a:xfrm>
            <a:off x="5806440" y="1783080"/>
            <a:ext cx="5833872" cy="1024128"/>
          </a:xfrm>
          <a:prstGeom prst="roundRect">
            <a:avLst>
              <a:gd name="adj" fmla="val 10714"/>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3" name="Shape 11"/>
          <p:cNvSpPr/>
          <p:nvPr/>
        </p:nvSpPr>
        <p:spPr>
          <a:xfrm>
            <a:off x="6062472" y="2057400"/>
            <a:ext cx="475488" cy="475488"/>
          </a:xfrm>
          <a:prstGeom prst="ellipse">
            <a:avLst/>
          </a:prstGeom>
          <a:solidFill>
            <a:srgbClr val="16325C"/>
          </a:solidFill>
          <a:ln w="12700">
            <a:solidFill>
              <a:srgbClr val="16325C"/>
            </a:solidFill>
            <a:prstDash val="solid"/>
          </a:ln>
        </p:spPr>
        <p:txBody>
          <a:bodyPr/>
          <a:lstStyle/>
          <a:p>
            <a:endParaRPr lang="en-US"/>
          </a:p>
        </p:txBody>
      </p:sp>
      <p:sp>
        <p:nvSpPr>
          <p:cNvPr id="14" name="Text 12"/>
          <p:cNvSpPr txBox="1"/>
          <p:nvPr/>
        </p:nvSpPr>
        <p:spPr>
          <a:xfrm>
            <a:off x="6062472" y="205740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13"/>
          <p:cNvSpPr txBox="1"/>
          <p:nvPr/>
        </p:nvSpPr>
        <p:spPr>
          <a:xfrm>
            <a:off x="6766560" y="1892808"/>
            <a:ext cx="4645152" cy="256032"/>
          </a:xfrm>
          <a:prstGeom prst="rect">
            <a:avLst/>
          </a:prstGeom>
          <a:noFill/>
          <a:ln/>
        </p:spPr>
        <p:txBody>
          <a:bodyPr wrap="square" lIns="0" tIns="0" rIns="0" bIns="0" rtlCol="0" anchor="ctr"/>
          <a:lstStyle/>
          <a:p>
            <a:pPr marL="0" indent="0">
              <a:buNone/>
            </a:pPr>
            <a:r>
              <a:rPr lang="en-US" sz="1100" b="1" dirty="0">
                <a:solidFill>
                  <a:srgbClr val="16325C"/>
                </a:solidFill>
                <a:latin typeface="Calibri" pitchFamily="34" charset="0"/>
                <a:ea typeface="Calibri" pitchFamily="34" charset="-122"/>
                <a:cs typeface="Calibri" pitchFamily="34" charset="-120"/>
              </a:rPr>
              <a:t>Butun O‘zbekiston — kelajakdagi bozor</a:t>
            </a:r>
            <a:endParaRPr lang="en-US" sz="1100" dirty="0"/>
          </a:p>
        </p:txBody>
      </p:sp>
      <p:sp>
        <p:nvSpPr>
          <p:cNvPr id="16" name="Text 14"/>
          <p:cNvSpPr txBox="1"/>
          <p:nvPr/>
        </p:nvSpPr>
        <p:spPr>
          <a:xfrm>
            <a:off x="6766560" y="2130552"/>
            <a:ext cx="4645152" cy="384048"/>
          </a:xfrm>
          <a:prstGeom prst="rect">
            <a:avLst/>
          </a:prstGeom>
          <a:noFill/>
          <a:ln/>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1 432 ta shifoxona</a:t>
            </a:r>
            <a:endParaRPr lang="en-US" sz="2000" dirty="0"/>
          </a:p>
        </p:txBody>
      </p:sp>
      <p:sp>
        <p:nvSpPr>
          <p:cNvPr id="17" name="Text 15"/>
          <p:cNvSpPr txBox="1"/>
          <p:nvPr/>
        </p:nvSpPr>
        <p:spPr>
          <a:xfrm>
            <a:off x="6766560" y="2505456"/>
            <a:ext cx="4645152" cy="256032"/>
          </a:xfrm>
          <a:prstGeom prst="rect">
            <a:avLst/>
          </a:prstGeom>
          <a:noFill/>
          <a:ln/>
        </p:spPr>
        <p:txBody>
          <a:bodyPr wrap="square" lIns="0" tIns="0" rIns="0" bIns="0" rtlCol="0" anchor="ctr"/>
          <a:lstStyle/>
          <a:p>
            <a:pPr marL="0" indent="0">
              <a:buNone/>
            </a:pPr>
            <a:r>
              <a:rPr lang="en-US" sz="1150" dirty="0">
                <a:solidFill>
                  <a:srgbClr val="5E6B80"/>
                </a:solidFill>
                <a:latin typeface="Calibri" pitchFamily="34" charset="0"/>
                <a:ea typeface="Calibri" pitchFamily="34" charset="-122"/>
                <a:cs typeface="Calibri" pitchFamily="34" charset="-120"/>
              </a:rPr>
              <a:t>Respublikadagi barcha shifoxonalar (01.01.2024)</a:t>
            </a:r>
            <a:endParaRPr lang="en-US" sz="1150" dirty="0"/>
          </a:p>
        </p:txBody>
      </p:sp>
      <p:sp>
        <p:nvSpPr>
          <p:cNvPr id="18" name="Shape 16"/>
          <p:cNvSpPr/>
          <p:nvPr/>
        </p:nvSpPr>
        <p:spPr>
          <a:xfrm>
            <a:off x="5806440" y="2953512"/>
            <a:ext cx="5833872" cy="1024128"/>
          </a:xfrm>
          <a:prstGeom prst="roundRect">
            <a:avLst>
              <a:gd name="adj" fmla="val 10714"/>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9" name="Shape 17"/>
          <p:cNvSpPr/>
          <p:nvPr/>
        </p:nvSpPr>
        <p:spPr>
          <a:xfrm>
            <a:off x="6062472" y="3227832"/>
            <a:ext cx="475488" cy="475488"/>
          </a:xfrm>
          <a:prstGeom prst="ellipse">
            <a:avLst/>
          </a:prstGeom>
          <a:solidFill>
            <a:srgbClr val="3D6FB6"/>
          </a:solidFill>
          <a:ln w="12700">
            <a:solidFill>
              <a:srgbClr val="3D6FB6"/>
            </a:solidFill>
            <a:prstDash val="solid"/>
          </a:ln>
        </p:spPr>
        <p:txBody>
          <a:bodyPr/>
          <a:lstStyle/>
          <a:p>
            <a:endParaRPr lang="en-US"/>
          </a:p>
        </p:txBody>
      </p:sp>
      <p:sp>
        <p:nvSpPr>
          <p:cNvPr id="20" name="Text 18"/>
          <p:cNvSpPr txBox="1"/>
          <p:nvPr/>
        </p:nvSpPr>
        <p:spPr>
          <a:xfrm>
            <a:off x="6062472" y="322783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9"/>
          <p:cNvSpPr txBox="1"/>
          <p:nvPr/>
        </p:nvSpPr>
        <p:spPr>
          <a:xfrm>
            <a:off x="6766560" y="3063240"/>
            <a:ext cx="4645152" cy="256032"/>
          </a:xfrm>
          <a:prstGeom prst="rect">
            <a:avLst/>
          </a:prstGeom>
          <a:noFill/>
          <a:ln/>
        </p:spPr>
        <p:txBody>
          <a:bodyPr wrap="square" lIns="0" tIns="0" rIns="0" bIns="0" rtlCol="0" anchor="ctr"/>
          <a:lstStyle/>
          <a:p>
            <a:pPr marL="0" indent="0">
              <a:buNone/>
            </a:pPr>
            <a:r>
              <a:rPr lang="en-US" sz="1100" b="1" dirty="0">
                <a:solidFill>
                  <a:srgbClr val="3D6FB6"/>
                </a:solidFill>
                <a:latin typeface="Calibri" pitchFamily="34" charset="0"/>
                <a:ea typeface="Calibri" pitchFamily="34" charset="-122"/>
                <a:cs typeface="Calibri" pitchFamily="34" charset="-120"/>
              </a:rPr>
              <a:t>Namangan viloyati — boshlanadigan bozor</a:t>
            </a:r>
            <a:endParaRPr lang="en-US" sz="1100" dirty="0"/>
          </a:p>
        </p:txBody>
      </p:sp>
      <p:sp>
        <p:nvSpPr>
          <p:cNvPr id="22" name="Text 20"/>
          <p:cNvSpPr txBox="1"/>
          <p:nvPr/>
        </p:nvSpPr>
        <p:spPr>
          <a:xfrm>
            <a:off x="6766560" y="3300984"/>
            <a:ext cx="4645152" cy="384048"/>
          </a:xfrm>
          <a:prstGeom prst="rect">
            <a:avLst/>
          </a:prstGeom>
          <a:noFill/>
          <a:ln/>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118 ta shifoxona · 15,7 ming o‘rin</a:t>
            </a:r>
            <a:endParaRPr lang="en-US" sz="2000" dirty="0"/>
          </a:p>
        </p:txBody>
      </p:sp>
      <p:sp>
        <p:nvSpPr>
          <p:cNvPr id="23" name="Text 21"/>
          <p:cNvSpPr txBox="1"/>
          <p:nvPr/>
        </p:nvSpPr>
        <p:spPr>
          <a:xfrm>
            <a:off x="6766560" y="3675888"/>
            <a:ext cx="4645152" cy="256032"/>
          </a:xfrm>
          <a:prstGeom prst="rect">
            <a:avLst/>
          </a:prstGeom>
          <a:noFill/>
          <a:ln/>
        </p:spPr>
        <p:txBody>
          <a:bodyPr wrap="square" lIns="0" tIns="0" rIns="0" bIns="0" rtlCol="0" anchor="ctr"/>
          <a:lstStyle/>
          <a:p>
            <a:pPr marL="0" indent="0">
              <a:buNone/>
            </a:pPr>
            <a:r>
              <a:rPr lang="en-US" sz="1150" dirty="0">
                <a:solidFill>
                  <a:srgbClr val="5E6B80"/>
                </a:solidFill>
                <a:latin typeface="Calibri" pitchFamily="34" charset="0"/>
                <a:ea typeface="Calibri" pitchFamily="34" charset="-122"/>
                <a:cs typeface="Calibri" pitchFamily="34" charset="-120"/>
              </a:rPr>
              <a:t>Birinchi bo‘lib shu yerda ishlaymiz</a:t>
            </a:r>
            <a:endParaRPr lang="en-US" sz="1150" dirty="0"/>
          </a:p>
        </p:txBody>
      </p:sp>
      <p:sp>
        <p:nvSpPr>
          <p:cNvPr id="24" name="Shape 22"/>
          <p:cNvSpPr/>
          <p:nvPr/>
        </p:nvSpPr>
        <p:spPr>
          <a:xfrm>
            <a:off x="5806440" y="4123944"/>
            <a:ext cx="5833872" cy="1024128"/>
          </a:xfrm>
          <a:prstGeom prst="roundRect">
            <a:avLst>
              <a:gd name="adj" fmla="val 10714"/>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5" name="Shape 23"/>
          <p:cNvSpPr/>
          <p:nvPr/>
        </p:nvSpPr>
        <p:spPr>
          <a:xfrm>
            <a:off x="6062472" y="4398264"/>
            <a:ext cx="475488" cy="475488"/>
          </a:xfrm>
          <a:prstGeom prst="ellipse">
            <a:avLst/>
          </a:prstGeom>
          <a:solidFill>
            <a:srgbClr val="2E9D6B"/>
          </a:solidFill>
          <a:ln w="12700">
            <a:solidFill>
              <a:srgbClr val="2E9D6B"/>
            </a:solidFill>
            <a:prstDash val="solid"/>
          </a:ln>
        </p:spPr>
        <p:txBody>
          <a:bodyPr/>
          <a:lstStyle/>
          <a:p>
            <a:endParaRPr lang="en-US"/>
          </a:p>
        </p:txBody>
      </p:sp>
      <p:sp>
        <p:nvSpPr>
          <p:cNvPr id="26" name="Text 24"/>
          <p:cNvSpPr txBox="1"/>
          <p:nvPr/>
        </p:nvSpPr>
        <p:spPr>
          <a:xfrm>
            <a:off x="6062472" y="439826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Text 25"/>
          <p:cNvSpPr txBox="1"/>
          <p:nvPr/>
        </p:nvSpPr>
        <p:spPr>
          <a:xfrm>
            <a:off x="6766560" y="4233672"/>
            <a:ext cx="4645152" cy="256032"/>
          </a:xfrm>
          <a:prstGeom prst="rect">
            <a:avLst/>
          </a:prstGeom>
          <a:noFill/>
          <a:ln/>
        </p:spPr>
        <p:txBody>
          <a:bodyPr wrap="square" lIns="0" tIns="0" rIns="0" bIns="0" rtlCol="0" anchor="ctr"/>
          <a:lstStyle/>
          <a:p>
            <a:pPr marL="0" indent="0">
              <a:buNone/>
            </a:pPr>
            <a:r>
              <a:rPr lang="en-US" sz="1100" b="1" dirty="0">
                <a:solidFill>
                  <a:srgbClr val="2E9D6B"/>
                </a:solidFill>
                <a:latin typeface="Calibri" pitchFamily="34" charset="0"/>
                <a:ea typeface="Calibri" pitchFamily="34" charset="-122"/>
                <a:cs typeface="Calibri" pitchFamily="34" charset="-120"/>
              </a:rPr>
              <a:t>Birinchi 12 oy — real maqsad</a:t>
            </a:r>
            <a:endParaRPr lang="en-US" sz="1100" dirty="0"/>
          </a:p>
        </p:txBody>
      </p:sp>
      <p:sp>
        <p:nvSpPr>
          <p:cNvPr id="28" name="Text 26"/>
          <p:cNvSpPr txBox="1"/>
          <p:nvPr/>
        </p:nvSpPr>
        <p:spPr>
          <a:xfrm>
            <a:off x="6766560" y="4471416"/>
            <a:ext cx="4645152" cy="384048"/>
          </a:xfrm>
          <a:prstGeom prst="rect">
            <a:avLst/>
          </a:prstGeom>
          <a:noFill/>
          <a:ln/>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5 ta shifoxona · 100 ta Band</a:t>
            </a:r>
            <a:endParaRPr lang="en-US" sz="2000" dirty="0"/>
          </a:p>
        </p:txBody>
      </p:sp>
      <p:sp>
        <p:nvSpPr>
          <p:cNvPr id="29" name="Text 27"/>
          <p:cNvSpPr txBox="1"/>
          <p:nvPr/>
        </p:nvSpPr>
        <p:spPr>
          <a:xfrm>
            <a:off x="6766560" y="4846320"/>
            <a:ext cx="4645152" cy="256032"/>
          </a:xfrm>
          <a:prstGeom prst="rect">
            <a:avLst/>
          </a:prstGeom>
          <a:noFill/>
          <a:ln/>
        </p:spPr>
        <p:txBody>
          <a:bodyPr wrap="square" lIns="0" tIns="0" rIns="0" bIns="0" rtlCol="0" anchor="ctr"/>
          <a:lstStyle/>
          <a:p>
            <a:pPr marL="0" indent="0">
              <a:buNone/>
            </a:pPr>
            <a:r>
              <a:rPr lang="en-US" sz="1150" dirty="0">
                <a:solidFill>
                  <a:srgbClr val="5E6B80"/>
                </a:solidFill>
                <a:latin typeface="Calibri" pitchFamily="34" charset="0"/>
                <a:ea typeface="Calibri" pitchFamily="34" charset="-122"/>
                <a:cs typeface="Calibri" pitchFamily="34" charset="-120"/>
              </a:rPr>
              <a:t>Pilot oxiriga qamrov; to‘liq yuklamada yiliga ~800 bemor</a:t>
            </a:r>
            <a:endParaRPr lang="en-US" sz="1150" dirty="0"/>
          </a:p>
        </p:txBody>
      </p:sp>
      <p:sp>
        <p:nvSpPr>
          <p:cNvPr id="30" name="Shape 28"/>
          <p:cNvSpPr/>
          <p:nvPr/>
        </p:nvSpPr>
        <p:spPr>
          <a:xfrm>
            <a:off x="5806440" y="5349240"/>
            <a:ext cx="5833872" cy="914400"/>
          </a:xfrm>
          <a:prstGeom prst="roundRect">
            <a:avLst>
              <a:gd name="adj" fmla="val 12000"/>
            </a:avLst>
          </a:prstGeom>
          <a:solidFill>
            <a:srgbClr val="E8EEF7"/>
          </a:solidFill>
          <a:ln w="9525">
            <a:solidFill>
              <a:srgbClr val="E8EEF7"/>
            </a:solidFill>
            <a:prstDash val="solid"/>
          </a:ln>
          <a:effectLst>
            <a:outerShdw blurRad="177800" dist="38100" dir="5400000" algn="bl" rotWithShape="0">
              <a:srgbClr val="1A2233">
                <a:alpha val="10000"/>
              </a:srgbClr>
            </a:outerShdw>
          </a:effectLst>
        </p:spPr>
        <p:txBody>
          <a:bodyPr/>
          <a:lstStyle/>
          <a:p>
            <a:endParaRPr lang="en-US"/>
          </a:p>
        </p:txBody>
      </p:sp>
      <p:sp>
        <p:nvSpPr>
          <p:cNvPr id="31" name="Text 29"/>
          <p:cNvSpPr txBox="1"/>
          <p:nvPr/>
        </p:nvSpPr>
        <p:spPr>
          <a:xfrm>
            <a:off x="6035040" y="5422392"/>
            <a:ext cx="5394960" cy="768096"/>
          </a:xfrm>
          <a:prstGeom prst="rect">
            <a:avLst/>
          </a:prstGeom>
          <a:noFill/>
          <a:ln/>
        </p:spPr>
        <p:txBody>
          <a:bodyPr wrap="square" lIns="0" tIns="0" rIns="0" bIns="0" rtlCol="0" anchor="ctr"/>
          <a:lstStyle/>
          <a:p>
            <a:pPr marL="0" indent="0">
              <a:buNone/>
            </a:pPr>
            <a:r>
              <a:rPr lang="en-US" sz="1150" b="1" dirty="0">
                <a:solidFill>
                  <a:srgbClr val="16325C"/>
                </a:solidFill>
                <a:latin typeface="Calibri" pitchFamily="34" charset="0"/>
                <a:ea typeface="Calibri" pitchFamily="34" charset="-122"/>
                <a:cs typeface="Calibri" pitchFamily="34" charset="-120"/>
              </a:rPr>
              <a:t>Maqsadli auditoriya: </a:t>
            </a:r>
            <a:r>
              <a:rPr lang="en-US" sz="1150" dirty="0">
                <a:solidFill>
                  <a:srgbClr val="1A2233"/>
                </a:solidFill>
                <a:latin typeface="Calibri" pitchFamily="34" charset="0"/>
                <a:ea typeface="Calibri" pitchFamily="34" charset="-122"/>
                <a:cs typeface="Calibri" pitchFamily="34" charset="-120"/>
              </a:rPr>
              <a:t>nogironligi bor bemorlar, insult, infarkt va operatsiyadan keyingi, surunkali kasalliklar (diabet, respirator) tufayli 30–90 kun kuzatuv talab qiladigan bemorlar. To‘lovchi — shifoxona va klinikalar.</a:t>
            </a:r>
            <a:endParaRPr lang="en-US" sz="1150" dirty="0"/>
          </a:p>
        </p:txBody>
      </p:sp>
      <p:sp>
        <p:nvSpPr>
          <p:cNvPr id="32" name="Text 30"/>
          <p:cNvSpPr txBox="1"/>
          <p:nvPr/>
        </p:nvSpPr>
        <p:spPr>
          <a:xfrm>
            <a:off x="548640" y="6419088"/>
            <a:ext cx="11064240" cy="256032"/>
          </a:xfrm>
          <a:prstGeom prst="rect">
            <a:avLst/>
          </a:prstGeom>
          <a:noFill/>
          <a:ln/>
        </p:spPr>
        <p:txBody>
          <a:bodyPr wrap="square" lIns="0" tIns="0" rIns="0" bIns="0" rtlCol="0" anchor="ctr"/>
          <a:lstStyle/>
          <a:p>
            <a:pPr marL="0" indent="0">
              <a:buNone/>
            </a:pPr>
            <a:r>
              <a:rPr lang="en-US" sz="1000" i="1" dirty="0">
                <a:solidFill>
                  <a:srgbClr val="5E6B80"/>
                </a:solidFill>
                <a:latin typeface="Calibri" pitchFamily="34" charset="0"/>
                <a:ea typeface="Calibri" pitchFamily="34" charset="-122"/>
                <a:cs typeface="Calibri" pitchFamily="34" charset="-120"/>
              </a:rPr>
              <a:t>Manba: O‘zbekiston Milliy statistika qo‘mitasi, «O‘zbekiston Respublikasida sog‘liqni saqlash» to‘plami, 2024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05</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Yechim va raqobatchilar tahlili</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MIRA ikki bosqichda ishlaydi: kundalik kuzatuv → o‘zgarish sezilsa, chuqur tekshiruv.</a:t>
            </a:r>
            <a:endParaRPr lang="en-US" sz="1500" dirty="0"/>
          </a:p>
        </p:txBody>
      </p:sp>
      <p:sp>
        <p:nvSpPr>
          <p:cNvPr id="6" name="Shape 4"/>
          <p:cNvSpPr/>
          <p:nvPr/>
        </p:nvSpPr>
        <p:spPr>
          <a:xfrm>
            <a:off x="548640" y="1691640"/>
            <a:ext cx="2487168" cy="868680"/>
          </a:xfrm>
          <a:prstGeom prst="roundRect">
            <a:avLst>
              <a:gd name="adj" fmla="val 1263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7" name="Shape 5"/>
          <p:cNvSpPr/>
          <p:nvPr/>
        </p:nvSpPr>
        <p:spPr>
          <a:xfrm>
            <a:off x="731520" y="1874520"/>
            <a:ext cx="502920" cy="502920"/>
          </a:xfrm>
          <a:prstGeom prst="ellipse">
            <a:avLst/>
          </a:prstGeom>
          <a:solidFill>
            <a:srgbClr val="16325C"/>
          </a:solidFill>
          <a:ln w="12700">
            <a:solidFill>
              <a:srgbClr val="16325C"/>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57250" y="2000250"/>
            <a:ext cx="251460" cy="251460"/>
          </a:xfrm>
          <a:prstGeom prst="rect">
            <a:avLst/>
          </a:prstGeom>
        </p:spPr>
      </p:pic>
      <p:sp>
        <p:nvSpPr>
          <p:cNvPr id="9" name="Text 6"/>
          <p:cNvSpPr txBox="1"/>
          <p:nvPr/>
        </p:nvSpPr>
        <p:spPr>
          <a:xfrm>
            <a:off x="1353312" y="1847088"/>
            <a:ext cx="1591056" cy="292608"/>
          </a:xfrm>
          <a:prstGeom prst="rect">
            <a:avLst/>
          </a:prstGeom>
          <a:noFill/>
          <a:ln/>
        </p:spPr>
        <p:txBody>
          <a:bodyPr wrap="square" lIns="0" tIns="0" rIns="0" bIns="0"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Band</a:t>
            </a:r>
            <a:endParaRPr lang="en-US" sz="1400" dirty="0"/>
          </a:p>
        </p:txBody>
      </p:sp>
      <p:sp>
        <p:nvSpPr>
          <p:cNvPr id="10" name="Text 7"/>
          <p:cNvSpPr txBox="1"/>
          <p:nvPr/>
        </p:nvSpPr>
        <p:spPr>
          <a:xfrm>
            <a:off x="1353312" y="2148840"/>
            <a:ext cx="1591056" cy="274320"/>
          </a:xfrm>
          <a:prstGeom prst="rect">
            <a:avLst/>
          </a:prstGeom>
          <a:noFill/>
          <a:ln/>
        </p:spPr>
        <p:txBody>
          <a:bodyPr wrap="square" lIns="0" tIns="0" rIns="0" bIns="0" rtlCol="0" anchor="ctr"/>
          <a:lstStyle/>
          <a:p>
            <a:pPr marL="0" indent="0">
              <a:buNone/>
            </a:pPr>
            <a:r>
              <a:rPr lang="en-US" sz="1100" dirty="0">
                <a:solidFill>
                  <a:srgbClr val="5E6B80"/>
                </a:solidFill>
                <a:latin typeface="Calibri" pitchFamily="34" charset="0"/>
                <a:ea typeface="Calibri" pitchFamily="34" charset="-122"/>
                <a:cs typeface="Calibri" pitchFamily="34" charset="-120"/>
              </a:rPr>
              <a:t>kundalik ko‘rsatkichlar</a:t>
            </a:r>
            <a:endParaRPr lang="en-US" sz="1100" dirty="0"/>
          </a:p>
        </p:txBody>
      </p:sp>
      <p:pic>
        <p:nvPicPr>
          <p:cNvPr id="11" name="Image 1" descr="preencoded.png"/>
          <p:cNvPicPr>
            <a:picLocks noChangeAspect="1"/>
          </p:cNvPicPr>
          <p:nvPr/>
        </p:nvPicPr>
        <p:blipFill>
          <a:blip r:embed="rId4"/>
          <a:stretch>
            <a:fillRect/>
          </a:stretch>
        </p:blipFill>
        <p:spPr>
          <a:xfrm>
            <a:off x="3127248" y="1993392"/>
            <a:ext cx="201168" cy="274320"/>
          </a:xfrm>
          <a:prstGeom prst="rect">
            <a:avLst/>
          </a:prstGeom>
        </p:spPr>
      </p:pic>
      <p:sp>
        <p:nvSpPr>
          <p:cNvPr id="12" name="Shape 8"/>
          <p:cNvSpPr/>
          <p:nvPr/>
        </p:nvSpPr>
        <p:spPr>
          <a:xfrm>
            <a:off x="3401568" y="1691640"/>
            <a:ext cx="2487168" cy="868680"/>
          </a:xfrm>
          <a:prstGeom prst="roundRect">
            <a:avLst>
              <a:gd name="adj" fmla="val 1263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3" name="Shape 9"/>
          <p:cNvSpPr/>
          <p:nvPr/>
        </p:nvSpPr>
        <p:spPr>
          <a:xfrm>
            <a:off x="3584448" y="1874520"/>
            <a:ext cx="502920" cy="502920"/>
          </a:xfrm>
          <a:prstGeom prst="ellipse">
            <a:avLst/>
          </a:prstGeom>
          <a:solidFill>
            <a:srgbClr val="16325C"/>
          </a:solidFill>
          <a:ln w="12700">
            <a:solidFill>
              <a:srgbClr val="16325C"/>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710178" y="2000250"/>
            <a:ext cx="251460" cy="251460"/>
          </a:xfrm>
          <a:prstGeom prst="rect">
            <a:avLst/>
          </a:prstGeom>
        </p:spPr>
      </p:pic>
      <p:sp>
        <p:nvSpPr>
          <p:cNvPr id="15" name="Text 10"/>
          <p:cNvSpPr txBox="1"/>
          <p:nvPr/>
        </p:nvSpPr>
        <p:spPr>
          <a:xfrm>
            <a:off x="4206240" y="1847088"/>
            <a:ext cx="1591056" cy="292608"/>
          </a:xfrm>
          <a:prstGeom prst="rect">
            <a:avLst/>
          </a:prstGeom>
          <a:noFill/>
          <a:ln/>
        </p:spPr>
        <p:txBody>
          <a:bodyPr wrap="square" lIns="0" tIns="0" rIns="0" bIns="0"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Box + Force</a:t>
            </a:r>
            <a:endParaRPr lang="en-US" sz="1400" dirty="0"/>
          </a:p>
        </p:txBody>
      </p:sp>
      <p:sp>
        <p:nvSpPr>
          <p:cNvPr id="16" name="Text 11"/>
          <p:cNvSpPr txBox="1"/>
          <p:nvPr/>
        </p:nvSpPr>
        <p:spPr>
          <a:xfrm>
            <a:off x="4206240" y="2148840"/>
            <a:ext cx="1591056" cy="274320"/>
          </a:xfrm>
          <a:prstGeom prst="rect">
            <a:avLst/>
          </a:prstGeom>
          <a:noFill/>
          <a:ln/>
        </p:spPr>
        <p:txBody>
          <a:bodyPr wrap="square" lIns="0" tIns="0" rIns="0" bIns="0" rtlCol="0" anchor="ctr"/>
          <a:lstStyle/>
          <a:p>
            <a:pPr marL="0" indent="0">
              <a:buNone/>
            </a:pPr>
            <a:r>
              <a:rPr lang="en-US" sz="1100" dirty="0">
                <a:solidFill>
                  <a:srgbClr val="5E6B80"/>
                </a:solidFill>
                <a:latin typeface="Calibri" pitchFamily="34" charset="0"/>
                <a:ea typeface="Calibri" pitchFamily="34" charset="-122"/>
                <a:cs typeface="Calibri" pitchFamily="34" charset="-120"/>
              </a:rPr>
              <a:t>chuqur tekshiruv</a:t>
            </a:r>
            <a:endParaRPr lang="en-US" sz="1100" dirty="0"/>
          </a:p>
        </p:txBody>
      </p:sp>
      <p:pic>
        <p:nvPicPr>
          <p:cNvPr id="17" name="Image 3" descr="preencoded.png"/>
          <p:cNvPicPr>
            <a:picLocks noChangeAspect="1"/>
          </p:cNvPicPr>
          <p:nvPr/>
        </p:nvPicPr>
        <p:blipFill>
          <a:blip r:embed="rId4"/>
          <a:stretch>
            <a:fillRect/>
          </a:stretch>
        </p:blipFill>
        <p:spPr>
          <a:xfrm>
            <a:off x="5980176" y="1993392"/>
            <a:ext cx="201168" cy="274320"/>
          </a:xfrm>
          <a:prstGeom prst="rect">
            <a:avLst/>
          </a:prstGeom>
        </p:spPr>
      </p:pic>
      <p:sp>
        <p:nvSpPr>
          <p:cNvPr id="18" name="Shape 12"/>
          <p:cNvSpPr/>
          <p:nvPr/>
        </p:nvSpPr>
        <p:spPr>
          <a:xfrm>
            <a:off x="6254496" y="1691640"/>
            <a:ext cx="2487168" cy="868680"/>
          </a:xfrm>
          <a:prstGeom prst="roundRect">
            <a:avLst>
              <a:gd name="adj" fmla="val 1263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9" name="Shape 13"/>
          <p:cNvSpPr/>
          <p:nvPr/>
        </p:nvSpPr>
        <p:spPr>
          <a:xfrm>
            <a:off x="6437376" y="1874520"/>
            <a:ext cx="502920" cy="502920"/>
          </a:xfrm>
          <a:prstGeom prst="ellipse">
            <a:avLst/>
          </a:prstGeom>
          <a:solidFill>
            <a:srgbClr val="16325C"/>
          </a:solidFill>
          <a:ln w="12700">
            <a:solidFill>
              <a:srgbClr val="16325C"/>
            </a:solidFill>
            <a:prstDash val="solid"/>
          </a:ln>
        </p:spPr>
        <p:txBody>
          <a:bodyPr/>
          <a:lstStyle/>
          <a:p>
            <a:endParaRPr lang="en-US"/>
          </a:p>
        </p:txBody>
      </p:sp>
      <p:pic>
        <p:nvPicPr>
          <p:cNvPr id="20" name="Image 4" descr="preencoded.png"/>
          <p:cNvPicPr>
            <a:picLocks noChangeAspect="1"/>
          </p:cNvPicPr>
          <p:nvPr/>
        </p:nvPicPr>
        <p:blipFill>
          <a:blip r:embed="rId6"/>
          <a:stretch>
            <a:fillRect/>
          </a:stretch>
        </p:blipFill>
        <p:spPr>
          <a:xfrm>
            <a:off x="6563106" y="2000250"/>
            <a:ext cx="251460" cy="251460"/>
          </a:xfrm>
          <a:prstGeom prst="rect">
            <a:avLst/>
          </a:prstGeom>
        </p:spPr>
      </p:pic>
      <p:sp>
        <p:nvSpPr>
          <p:cNvPr id="21" name="Text 14"/>
          <p:cNvSpPr txBox="1"/>
          <p:nvPr/>
        </p:nvSpPr>
        <p:spPr>
          <a:xfrm>
            <a:off x="7059168" y="1847088"/>
            <a:ext cx="1591056" cy="292608"/>
          </a:xfrm>
          <a:prstGeom prst="rect">
            <a:avLst/>
          </a:prstGeom>
          <a:noFill/>
          <a:ln/>
        </p:spPr>
        <p:txBody>
          <a:bodyPr wrap="square" lIns="0" tIns="0" rIns="0" bIns="0"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AI risk-triaj</a:t>
            </a:r>
            <a:endParaRPr lang="en-US" sz="1400" dirty="0"/>
          </a:p>
        </p:txBody>
      </p:sp>
      <p:sp>
        <p:nvSpPr>
          <p:cNvPr id="22" name="Text 15"/>
          <p:cNvSpPr txBox="1"/>
          <p:nvPr/>
        </p:nvSpPr>
        <p:spPr>
          <a:xfrm>
            <a:off x="7059168" y="2148840"/>
            <a:ext cx="1591056" cy="274320"/>
          </a:xfrm>
          <a:prstGeom prst="rect">
            <a:avLst/>
          </a:prstGeom>
          <a:noFill/>
          <a:ln/>
        </p:spPr>
        <p:txBody>
          <a:bodyPr wrap="square" lIns="0" tIns="0" rIns="0" bIns="0" rtlCol="0" anchor="ctr"/>
          <a:lstStyle/>
          <a:p>
            <a:pPr marL="0" indent="0">
              <a:buNone/>
            </a:pPr>
            <a:r>
              <a:rPr lang="en-US" sz="1100" dirty="0">
                <a:solidFill>
                  <a:srgbClr val="5E6B80"/>
                </a:solidFill>
                <a:latin typeface="Calibri" pitchFamily="34" charset="0"/>
                <a:ea typeface="Calibri" pitchFamily="34" charset="-122"/>
                <a:cs typeface="Calibri" pitchFamily="34" charset="-120"/>
              </a:rPr>
              <a:t>diagnoz emas, qarorga yordam</a:t>
            </a:r>
            <a:endParaRPr lang="en-US" sz="1100" dirty="0"/>
          </a:p>
        </p:txBody>
      </p:sp>
      <p:pic>
        <p:nvPicPr>
          <p:cNvPr id="23" name="Image 5" descr="preencoded.png"/>
          <p:cNvPicPr>
            <a:picLocks noChangeAspect="1"/>
          </p:cNvPicPr>
          <p:nvPr/>
        </p:nvPicPr>
        <p:blipFill>
          <a:blip r:embed="rId4"/>
          <a:stretch>
            <a:fillRect/>
          </a:stretch>
        </p:blipFill>
        <p:spPr>
          <a:xfrm>
            <a:off x="8833104" y="1993392"/>
            <a:ext cx="201168" cy="274320"/>
          </a:xfrm>
          <a:prstGeom prst="rect">
            <a:avLst/>
          </a:prstGeom>
        </p:spPr>
      </p:pic>
      <p:sp>
        <p:nvSpPr>
          <p:cNvPr id="24" name="Shape 16"/>
          <p:cNvSpPr/>
          <p:nvPr/>
        </p:nvSpPr>
        <p:spPr>
          <a:xfrm>
            <a:off x="9107424" y="1691640"/>
            <a:ext cx="2487168" cy="868680"/>
          </a:xfrm>
          <a:prstGeom prst="roundRect">
            <a:avLst>
              <a:gd name="adj" fmla="val 1263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5" name="Shape 17"/>
          <p:cNvSpPr/>
          <p:nvPr/>
        </p:nvSpPr>
        <p:spPr>
          <a:xfrm>
            <a:off x="9290304" y="1874520"/>
            <a:ext cx="502920" cy="502920"/>
          </a:xfrm>
          <a:prstGeom prst="ellipse">
            <a:avLst/>
          </a:prstGeom>
          <a:solidFill>
            <a:srgbClr val="16325C"/>
          </a:solidFill>
          <a:ln w="12700">
            <a:solidFill>
              <a:srgbClr val="16325C"/>
            </a:solidFill>
            <a:prstDash val="solid"/>
          </a:ln>
        </p:spPr>
        <p:txBody>
          <a:bodyPr/>
          <a:lstStyle/>
          <a:p>
            <a:endParaRPr lang="en-US"/>
          </a:p>
        </p:txBody>
      </p:sp>
      <p:pic>
        <p:nvPicPr>
          <p:cNvPr id="26" name="Image 6" descr="preencoded.png"/>
          <p:cNvPicPr>
            <a:picLocks noChangeAspect="1"/>
          </p:cNvPicPr>
          <p:nvPr/>
        </p:nvPicPr>
        <p:blipFill>
          <a:blip r:embed="rId7"/>
          <a:stretch>
            <a:fillRect/>
          </a:stretch>
        </p:blipFill>
        <p:spPr>
          <a:xfrm>
            <a:off x="9416034" y="2000250"/>
            <a:ext cx="251460" cy="251460"/>
          </a:xfrm>
          <a:prstGeom prst="rect">
            <a:avLst/>
          </a:prstGeom>
        </p:spPr>
      </p:pic>
      <p:sp>
        <p:nvSpPr>
          <p:cNvPr id="27" name="Text 18"/>
          <p:cNvSpPr txBox="1"/>
          <p:nvPr/>
        </p:nvSpPr>
        <p:spPr>
          <a:xfrm>
            <a:off x="9912096" y="1847088"/>
            <a:ext cx="1591056" cy="292608"/>
          </a:xfrm>
          <a:prstGeom prst="rect">
            <a:avLst/>
          </a:prstGeom>
          <a:noFill/>
          <a:ln/>
        </p:spPr>
        <p:txBody>
          <a:bodyPr wrap="square" lIns="0" tIns="0" rIns="0" bIns="0" rtlCol="0" anchor="ctr"/>
          <a:lstStyle/>
          <a:p>
            <a:pPr marL="0" indent="0">
              <a:buNone/>
            </a:pPr>
            <a:r>
              <a:rPr lang="en-US" sz="1400" b="1" dirty="0">
                <a:solidFill>
                  <a:srgbClr val="1A2233"/>
                </a:solidFill>
                <a:latin typeface="Calibri" pitchFamily="34" charset="0"/>
                <a:ea typeface="Calibri" pitchFamily="34" charset="-122"/>
                <a:cs typeface="Calibri" pitchFamily="34" charset="-120"/>
              </a:rPr>
              <a:t>Shifokor va bemor</a:t>
            </a:r>
            <a:endParaRPr lang="en-US" sz="1400" dirty="0"/>
          </a:p>
        </p:txBody>
      </p:sp>
      <p:sp>
        <p:nvSpPr>
          <p:cNvPr id="28" name="Text 19"/>
          <p:cNvSpPr txBox="1"/>
          <p:nvPr/>
        </p:nvSpPr>
        <p:spPr>
          <a:xfrm>
            <a:off x="9912096" y="2148840"/>
            <a:ext cx="1591056" cy="274320"/>
          </a:xfrm>
          <a:prstGeom prst="rect">
            <a:avLst/>
          </a:prstGeom>
          <a:noFill/>
          <a:ln/>
        </p:spPr>
        <p:txBody>
          <a:bodyPr wrap="square" lIns="0" tIns="0" rIns="0" bIns="0" rtlCol="0" anchor="ctr"/>
          <a:lstStyle/>
          <a:p>
            <a:pPr marL="0" indent="0">
              <a:buNone/>
            </a:pPr>
            <a:r>
              <a:rPr lang="en-US" sz="1100" dirty="0">
                <a:solidFill>
                  <a:srgbClr val="5E6B80"/>
                </a:solidFill>
                <a:latin typeface="Calibri" pitchFamily="34" charset="0"/>
                <a:ea typeface="Calibri" pitchFamily="34" charset="-122"/>
                <a:cs typeface="Calibri" pitchFamily="34" charset="-120"/>
              </a:rPr>
              <a:t>trendlar · tushunarli tavsiya</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35661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84048">
                <a:tc>
                  <a:txBody>
                    <a:bodyPr/>
                    <a:lstStyle/>
                    <a:p>
                      <a:pPr marL="0" indent="0" algn="ctr">
                        <a:buNone/>
                      </a:pPr>
                      <a:r>
                        <a:rPr lang="en-US" sz="1300" b="1" dirty="0">
                          <a:solidFill>
                            <a:srgbClr val="16325C"/>
                          </a:solidFill>
                          <a:latin typeface="Calibri" pitchFamily="34" charset="0"/>
                          <a:ea typeface="Calibri" pitchFamily="34" charset="-122"/>
                          <a:cs typeface="Calibri" pitchFamily="34" charset="-120"/>
                        </a:rPr>
                        <a:t>Xususiyat</a:t>
                      </a:r>
                      <a:endParaRPr lang="en-US" sz="13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DDE4E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MIRA+</a:t>
                      </a:r>
                      <a:endParaRPr lang="en-US" sz="13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16325C"/>
                    </a:solidFill>
                  </a:tcPr>
                </a:tc>
                <a:tc>
                  <a:txBody>
                    <a:bodyPr/>
                    <a:lstStyle/>
                    <a:p>
                      <a:pPr marL="0" indent="0" algn="ctr">
                        <a:buNone/>
                      </a:pPr>
                      <a:r>
                        <a:rPr lang="en-US" sz="1300" b="1" dirty="0">
                          <a:solidFill>
                            <a:srgbClr val="16325C"/>
                          </a:solidFill>
                          <a:latin typeface="Calibri" pitchFamily="34" charset="0"/>
                          <a:ea typeface="Calibri" pitchFamily="34" charset="-122"/>
                          <a:cs typeface="Calibri" pitchFamily="34" charset="-120"/>
                        </a:rPr>
                        <a:t>Aqlli soat / bilaguzuk</a:t>
                      </a:r>
                      <a:endParaRPr lang="en-US" sz="13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DDE4EF"/>
                    </a:solidFill>
                  </a:tcPr>
                </a:tc>
                <a:tc>
                  <a:txBody>
                    <a:bodyPr/>
                    <a:lstStyle/>
                    <a:p>
                      <a:pPr marL="0" indent="0" algn="ctr">
                        <a:buNone/>
                      </a:pPr>
                      <a:r>
                        <a:rPr lang="en-US" sz="1300" b="1" dirty="0">
                          <a:solidFill>
                            <a:srgbClr val="16325C"/>
                          </a:solidFill>
                          <a:latin typeface="Calibri" pitchFamily="34" charset="0"/>
                          <a:ea typeface="Calibri" pitchFamily="34" charset="-122"/>
                          <a:cs typeface="Calibri" pitchFamily="34" charset="-120"/>
                        </a:rPr>
                        <a:t>Uy tonometri</a:t>
                      </a:r>
                      <a:endParaRPr lang="en-US" sz="13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DDE4EF"/>
                    </a:solidFill>
                  </a:tcPr>
                </a:tc>
                <a:extLst>
                  <a:ext uri="{0D108BD9-81ED-4DB2-BD59-A6C34878D82A}">
                    <a16:rowId xmlns:a16="http://schemas.microsoft.com/office/drawing/2014/main" val="10000"/>
                  </a:ext>
                </a:extLst>
              </a:tr>
              <a:tr h="402336">
                <a:tc>
                  <a:txBody>
                    <a:bodyPr/>
                    <a:lstStyle/>
                    <a:p>
                      <a:pPr marL="0" indent="0" algn="l">
                        <a:buNone/>
                      </a:pPr>
                      <a:r>
                        <a:rPr lang="en-US" sz="1250" dirty="0">
                          <a:solidFill>
                            <a:srgbClr val="1A2233"/>
                          </a:solidFill>
                          <a:latin typeface="Calibri" pitchFamily="34" charset="0"/>
                          <a:ea typeface="Calibri" pitchFamily="34" charset="-122"/>
                          <a:cs typeface="Calibri" pitchFamily="34" charset="-120"/>
                        </a:rPr>
                        <a:t>Shifokor bilan uzluksiz bog‘lanish</a:t>
                      </a:r>
                      <a:endParaRPr lang="en-US" sz="12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2E9D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50" dirty="0">
                          <a:solidFill>
                            <a:srgbClr val="1A2233"/>
                          </a:solidFill>
                          <a:latin typeface="Calibri" pitchFamily="34" charset="0"/>
                          <a:ea typeface="Calibri" pitchFamily="34" charset="-122"/>
                          <a:cs typeface="Calibri" pitchFamily="34" charset="-120"/>
                        </a:rPr>
                        <a:t>Qon bosimi va qon tahlili (Hb, glyukoza)</a:t>
                      </a:r>
                      <a:endParaRPr lang="en-US" sz="12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2E9D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D98A12"/>
                          </a:solidFill>
                          <a:latin typeface="Calibri" pitchFamily="34" charset="0"/>
                          <a:ea typeface="Calibri" pitchFamily="34" charset="-122"/>
                          <a:cs typeface="Calibri" pitchFamily="34" charset="-120"/>
                        </a:rPr>
                        <a:t>Faqat qon bosimi</a:t>
                      </a:r>
                      <a:endParaRPr lang="en-US" sz="12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50" dirty="0">
                          <a:solidFill>
                            <a:srgbClr val="1A2233"/>
                          </a:solidFill>
                          <a:latin typeface="Calibri" pitchFamily="34" charset="0"/>
                          <a:ea typeface="Calibri" pitchFamily="34" charset="-122"/>
                          <a:cs typeface="Calibri" pitchFamily="34" charset="-120"/>
                        </a:rPr>
                        <a:t>Reabilitatsiya: mushak kuchi dinamikasi</a:t>
                      </a:r>
                      <a:endParaRPr lang="en-US" sz="12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2E9D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250" dirty="0">
                          <a:solidFill>
                            <a:srgbClr val="1A2233"/>
                          </a:solidFill>
                          <a:latin typeface="Calibri" pitchFamily="34" charset="0"/>
                          <a:ea typeface="Calibri" pitchFamily="34" charset="-122"/>
                          <a:cs typeface="Calibri" pitchFamily="34" charset="-120"/>
                        </a:rPr>
                        <a:t>AI risk-triaj va avtomatik ogohlantirish</a:t>
                      </a:r>
                      <a:endParaRPr lang="en-US" sz="12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2E9D6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D98A12"/>
                          </a:solidFill>
                          <a:latin typeface="Calibri" pitchFamily="34" charset="0"/>
                          <a:ea typeface="Calibri" pitchFamily="34" charset="-122"/>
                          <a:cs typeface="Calibri" pitchFamily="34" charset="-120"/>
                        </a:rPr>
                        <a:t>Qisman</a:t>
                      </a:r>
                      <a:endParaRPr lang="en-US" sz="12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A9B3C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1A2233"/>
                          </a:solidFill>
                          <a:latin typeface="Calibri" pitchFamily="34" charset="0"/>
                          <a:ea typeface="Calibri" pitchFamily="34" charset="-122"/>
                          <a:cs typeface="Calibri" pitchFamily="34" charset="-120"/>
                        </a:rPr>
                        <a:t>Bemor uchun narxi / qulayligi</a:t>
                      </a:r>
                      <a:endParaRPr lang="en-US" sz="12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9D6B"/>
                          </a:solidFill>
                          <a:latin typeface="Calibri" pitchFamily="34" charset="0"/>
                          <a:ea typeface="Calibri" pitchFamily="34" charset="-122"/>
                          <a:cs typeface="Calibri" pitchFamily="34" charset="-120"/>
                        </a:rPr>
                        <a:t>Bepul — shifoxona ijaraga beradi</a:t>
                      </a:r>
                      <a:endParaRPr lang="en-US" sz="11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E6B80"/>
                          </a:solidFill>
                          <a:latin typeface="Calibri" pitchFamily="34" charset="0"/>
                          <a:ea typeface="Calibri" pitchFamily="34" charset="-122"/>
                          <a:cs typeface="Calibri" pitchFamily="34" charset="-120"/>
                        </a:rPr>
                        <a:t>Bemor o‘zi sotib oladi</a:t>
                      </a:r>
                      <a:endParaRPr lang="en-US" sz="11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E6B80"/>
                          </a:solidFill>
                          <a:latin typeface="Calibri" pitchFamily="34" charset="0"/>
                          <a:ea typeface="Calibri" pitchFamily="34" charset="-122"/>
                          <a:cs typeface="Calibri" pitchFamily="34" charset="-120"/>
                        </a:rPr>
                        <a:t>Arzon, lekin bitta ko‘rsatkich</a:t>
                      </a:r>
                      <a:endParaRPr lang="en-US" sz="1150" dirty="0">
                        <a:latin typeface="Calibri" charset="0"/>
                        <a:ea typeface="Calibri" charset="0"/>
                        <a:cs typeface="Calibri" charset="0"/>
                      </a:endParaRPr>
                    </a:p>
                  </a:txBody>
                  <a:tcPr marL="137160" marR="137160" marT="0" marB="0" anchor="ctr">
                    <a:lnL w="9525" cap="flat" cmpd="sng" algn="ctr">
                      <a:solidFill>
                        <a:srgbClr val="E1E6EE"/>
                      </a:solidFill>
                      <a:prstDash val="solid"/>
                      <a:round/>
                      <a:headEnd type="none" w="med" len="med"/>
                      <a:tailEnd type="none" w="med" len="med"/>
                    </a:lnL>
                    <a:lnR w="9525" cap="flat" cmpd="sng" algn="ctr">
                      <a:solidFill>
                        <a:srgbClr val="E1E6EE"/>
                      </a:solidFill>
                      <a:prstDash val="solid"/>
                      <a:round/>
                      <a:headEnd type="none" w="med" len="med"/>
                      <a:tailEnd type="none" w="med" len="med"/>
                    </a:lnR>
                    <a:lnT w="9525" cap="flat" cmpd="sng" algn="ctr">
                      <a:solidFill>
                        <a:srgbClr val="E1E6EE"/>
                      </a:solidFill>
                      <a:prstDash val="solid"/>
                      <a:round/>
                      <a:headEnd type="none" w="med" len="med"/>
                      <a:tailEnd type="none" w="med" len="med"/>
                    </a:lnT>
                    <a:lnB w="9525" cap="flat" cmpd="sng" algn="ctr">
                      <a:solidFill>
                        <a:srgbClr val="E1E6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0" name="Shape 20"/>
          <p:cNvSpPr/>
          <p:nvPr/>
        </p:nvSpPr>
        <p:spPr>
          <a:xfrm>
            <a:off x="548640" y="5440680"/>
            <a:ext cx="11091672" cy="868680"/>
          </a:xfrm>
          <a:prstGeom prst="roundRect">
            <a:avLst>
              <a:gd name="adj" fmla="val 12632"/>
            </a:avLst>
          </a:prstGeom>
          <a:solidFill>
            <a:srgbClr val="0E1B33"/>
          </a:solidFill>
          <a:ln w="9525">
            <a:solidFill>
              <a:srgbClr val="0E1B33"/>
            </a:solidFill>
            <a:prstDash val="solid"/>
          </a:ln>
          <a:effectLst>
            <a:outerShdw blurRad="177800" dist="38100" dir="5400000" algn="bl" rotWithShape="0">
              <a:srgbClr val="1A2233">
                <a:alpha val="10000"/>
              </a:srgbClr>
            </a:outerShdw>
          </a:effectLst>
        </p:spPr>
        <p:txBody>
          <a:bodyPr/>
          <a:lstStyle/>
          <a:p>
            <a:endParaRPr lang="en-US"/>
          </a:p>
        </p:txBody>
      </p:sp>
      <p:sp>
        <p:nvSpPr>
          <p:cNvPr id="31" name="Shape 21"/>
          <p:cNvSpPr/>
          <p:nvPr/>
        </p:nvSpPr>
        <p:spPr>
          <a:xfrm>
            <a:off x="777240" y="5577840"/>
            <a:ext cx="594360" cy="594360"/>
          </a:xfrm>
          <a:prstGeom prst="ellipse">
            <a:avLst/>
          </a:prstGeom>
          <a:solidFill>
            <a:srgbClr val="E0453A"/>
          </a:solidFill>
          <a:ln w="12700">
            <a:solidFill>
              <a:srgbClr val="E0453A"/>
            </a:solidFill>
            <a:prstDash val="solid"/>
          </a:ln>
        </p:spPr>
        <p:txBody>
          <a:bodyPr/>
          <a:lstStyle/>
          <a:p>
            <a:endParaRPr lang="en-US"/>
          </a:p>
        </p:txBody>
      </p:sp>
      <p:pic>
        <p:nvPicPr>
          <p:cNvPr id="32" name="Image 7" descr="preencoded.png"/>
          <p:cNvPicPr>
            <a:picLocks noChangeAspect="1"/>
          </p:cNvPicPr>
          <p:nvPr/>
        </p:nvPicPr>
        <p:blipFill>
          <a:blip r:embed="rId8"/>
          <a:stretch>
            <a:fillRect/>
          </a:stretch>
        </p:blipFill>
        <p:spPr>
          <a:xfrm>
            <a:off x="925830" y="5726430"/>
            <a:ext cx="297180" cy="297180"/>
          </a:xfrm>
          <a:prstGeom prst="rect">
            <a:avLst/>
          </a:prstGeom>
        </p:spPr>
      </p:pic>
      <p:sp>
        <p:nvSpPr>
          <p:cNvPr id="33" name="Text 22"/>
          <p:cNvSpPr txBox="1"/>
          <p:nvPr/>
        </p:nvSpPr>
        <p:spPr>
          <a:xfrm>
            <a:off x="1554480" y="5486400"/>
            <a:ext cx="9875520" cy="7772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Nima uchun biz eng yaxshimiz?  </a:t>
            </a:r>
            <a:r>
              <a:rPr lang="en-US" sz="1250" dirty="0">
                <a:solidFill>
                  <a:srgbClr val="D5DEEC"/>
                </a:solidFill>
                <a:latin typeface="Calibri" pitchFamily="34" charset="0"/>
                <a:ea typeface="Calibri" pitchFamily="34" charset="-122"/>
                <a:cs typeface="Calibri" pitchFamily="34" charset="-120"/>
              </a:rPr>
              <a:t>Bitta tizimda kundalik kuzatuv, chuqur tekshiruv va reabilitatsiya dinamikasi — shifokor bilan AI orqali bog‘langan. Ma’lumotlar O‘zbekistondagi serverda, O‘RQ-547 talablari asosida himoyalanadi.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06</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Monetizatsiya modeli: B2B2C</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Kam qurilma — ko‘p foydalanuvchi: Band har bir bemorga alohida, Box va Force esa bitta uy yoki markazga.</a:t>
            </a:r>
            <a:endParaRPr lang="en-US" sz="1500" dirty="0"/>
          </a:p>
        </p:txBody>
      </p:sp>
      <p:sp>
        <p:nvSpPr>
          <p:cNvPr id="6" name="Shape 4"/>
          <p:cNvSpPr/>
          <p:nvPr/>
        </p:nvSpPr>
        <p:spPr>
          <a:xfrm>
            <a:off x="548640" y="1691640"/>
            <a:ext cx="3611880"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7" name="Shape 5"/>
          <p:cNvSpPr/>
          <p:nvPr/>
        </p:nvSpPr>
        <p:spPr>
          <a:xfrm>
            <a:off x="749808" y="1874520"/>
            <a:ext cx="457200" cy="457200"/>
          </a:xfrm>
          <a:prstGeom prst="ellipse">
            <a:avLst/>
          </a:prstGeom>
          <a:solidFill>
            <a:srgbClr val="16325C"/>
          </a:solidFill>
          <a:ln w="12700">
            <a:solidFill>
              <a:srgbClr val="16325C"/>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64108" y="1988820"/>
            <a:ext cx="228600" cy="228600"/>
          </a:xfrm>
          <a:prstGeom prst="rect">
            <a:avLst/>
          </a:prstGeom>
        </p:spPr>
      </p:pic>
      <p:sp>
        <p:nvSpPr>
          <p:cNvPr id="9" name="Text 6"/>
          <p:cNvSpPr txBox="1"/>
          <p:nvPr/>
        </p:nvSpPr>
        <p:spPr>
          <a:xfrm>
            <a:off x="1325880" y="1938528"/>
            <a:ext cx="2697480" cy="329184"/>
          </a:xfrm>
          <a:prstGeom prst="rect">
            <a:avLst/>
          </a:prstGeom>
          <a:noFill/>
          <a:ln/>
        </p:spPr>
        <p:txBody>
          <a:bodyPr wrap="square" lIns="0" tIns="0" rIns="0" bIns="0" rtlCol="0" anchor="ctr"/>
          <a:lstStyle/>
          <a:p>
            <a:pPr marL="0" indent="0">
              <a:buNone/>
            </a:pPr>
            <a:r>
              <a:rPr lang="en-US" sz="1500" b="1" dirty="0">
                <a:solidFill>
                  <a:srgbClr val="1A2233"/>
                </a:solidFill>
                <a:latin typeface="Calibri" pitchFamily="34" charset="0"/>
                <a:ea typeface="Calibri" pitchFamily="34" charset="-122"/>
                <a:cs typeface="Calibri" pitchFamily="34" charset="-120"/>
              </a:rPr>
              <a:t>1 bemor — uyda</a:t>
            </a:r>
            <a:endParaRPr lang="en-US" sz="1500" dirty="0"/>
          </a:p>
        </p:txBody>
      </p:sp>
      <p:sp>
        <p:nvSpPr>
          <p:cNvPr id="10" name="Text 7"/>
          <p:cNvSpPr txBox="1"/>
          <p:nvPr/>
        </p:nvSpPr>
        <p:spPr>
          <a:xfrm>
            <a:off x="822960" y="2423160"/>
            <a:ext cx="3154680" cy="640080"/>
          </a:xfrm>
          <a:prstGeom prst="rect">
            <a:avLst/>
          </a:prstGeom>
          <a:noFill/>
          <a:ln/>
        </p:spPr>
        <p:txBody>
          <a:bodyPr wrap="square" lIns="0" tIns="0" rIns="0" bIns="0" rtlCol="0" anchor="t"/>
          <a:lstStyle/>
          <a:p>
            <a:pPr marL="0" indent="0">
              <a:buNone/>
            </a:pPr>
            <a:r>
              <a:rPr lang="en-US" sz="1150" b="1" dirty="0">
                <a:solidFill>
                  <a:srgbClr val="16325C"/>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Band</a:t>
            </a:r>
            <a:endParaRPr lang="en-US" sz="1150" dirty="0"/>
          </a:p>
          <a:p>
            <a:pPr marL="0" indent="0">
              <a:buNone/>
            </a:pPr>
            <a:r>
              <a:rPr lang="en-US" sz="1150" b="1" dirty="0">
                <a:solidFill>
                  <a:srgbClr val="16325C"/>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Box</a:t>
            </a:r>
            <a:endParaRPr lang="en-US" sz="1150" dirty="0"/>
          </a:p>
          <a:p>
            <a:pPr marL="0" indent="0">
              <a:buNone/>
            </a:pPr>
            <a:r>
              <a:rPr lang="en-US" sz="1150" b="1" dirty="0">
                <a:solidFill>
                  <a:srgbClr val="16325C"/>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Force</a:t>
            </a:r>
            <a:endParaRPr lang="en-US" sz="1150" dirty="0"/>
          </a:p>
        </p:txBody>
      </p:sp>
      <p:sp>
        <p:nvSpPr>
          <p:cNvPr id="11" name="Shape 8"/>
          <p:cNvSpPr/>
          <p:nvPr/>
        </p:nvSpPr>
        <p:spPr>
          <a:xfrm>
            <a:off x="4288536" y="1691640"/>
            <a:ext cx="3611880"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2" name="Shape 9"/>
          <p:cNvSpPr/>
          <p:nvPr/>
        </p:nvSpPr>
        <p:spPr>
          <a:xfrm>
            <a:off x="4489704" y="1874520"/>
            <a:ext cx="457200" cy="457200"/>
          </a:xfrm>
          <a:prstGeom prst="ellipse">
            <a:avLst/>
          </a:prstGeom>
          <a:solidFill>
            <a:srgbClr val="3D6FB6"/>
          </a:solidFill>
          <a:ln w="12700">
            <a:solidFill>
              <a:srgbClr val="3D6FB6"/>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604004" y="1988820"/>
            <a:ext cx="228600" cy="228600"/>
          </a:xfrm>
          <a:prstGeom prst="rect">
            <a:avLst/>
          </a:prstGeom>
        </p:spPr>
      </p:pic>
      <p:sp>
        <p:nvSpPr>
          <p:cNvPr id="14" name="Text 10"/>
          <p:cNvSpPr txBox="1"/>
          <p:nvPr/>
        </p:nvSpPr>
        <p:spPr>
          <a:xfrm>
            <a:off x="5065776" y="1938528"/>
            <a:ext cx="2697480" cy="329184"/>
          </a:xfrm>
          <a:prstGeom prst="rect">
            <a:avLst/>
          </a:prstGeom>
          <a:noFill/>
          <a:ln/>
        </p:spPr>
        <p:txBody>
          <a:bodyPr wrap="square" lIns="0" tIns="0" rIns="0" bIns="0" rtlCol="0" anchor="ctr"/>
          <a:lstStyle/>
          <a:p>
            <a:pPr marL="0" indent="0">
              <a:buNone/>
            </a:pPr>
            <a:r>
              <a:rPr lang="en-US" sz="1500" b="1" dirty="0">
                <a:solidFill>
                  <a:srgbClr val="1A2233"/>
                </a:solidFill>
                <a:latin typeface="Calibri" pitchFamily="34" charset="0"/>
                <a:ea typeface="Calibri" pitchFamily="34" charset="-122"/>
                <a:cs typeface="Calibri" pitchFamily="34" charset="-120"/>
              </a:rPr>
              <a:t>Oilada 2+ bemor</a:t>
            </a:r>
            <a:endParaRPr lang="en-US" sz="1500" dirty="0"/>
          </a:p>
        </p:txBody>
      </p:sp>
      <p:sp>
        <p:nvSpPr>
          <p:cNvPr id="15" name="Text 11"/>
          <p:cNvSpPr txBox="1"/>
          <p:nvPr/>
        </p:nvSpPr>
        <p:spPr>
          <a:xfrm>
            <a:off x="4562856" y="2423160"/>
            <a:ext cx="3154680" cy="640080"/>
          </a:xfrm>
          <a:prstGeom prst="rect">
            <a:avLst/>
          </a:prstGeom>
          <a:noFill/>
          <a:ln/>
        </p:spPr>
        <p:txBody>
          <a:bodyPr wrap="square" lIns="0" tIns="0" rIns="0" bIns="0" rtlCol="0" anchor="t"/>
          <a:lstStyle/>
          <a:p>
            <a:pPr marL="0" indent="0">
              <a:buNone/>
            </a:pPr>
            <a:r>
              <a:rPr lang="en-US" sz="1150" b="1" dirty="0">
                <a:solidFill>
                  <a:srgbClr val="3D6FB6"/>
                </a:solidFill>
                <a:latin typeface="Calibri" pitchFamily="34" charset="0"/>
                <a:ea typeface="Calibri" pitchFamily="34" charset="-122"/>
                <a:cs typeface="Calibri" pitchFamily="34" charset="-120"/>
              </a:rPr>
              <a:t>har biriga </a:t>
            </a:r>
            <a:r>
              <a:rPr lang="en-US" sz="1150" dirty="0">
                <a:solidFill>
                  <a:srgbClr val="1A2233"/>
                </a:solidFill>
                <a:latin typeface="Calibri" pitchFamily="34" charset="0"/>
                <a:ea typeface="Calibri" pitchFamily="34" charset="-122"/>
                <a:cs typeface="Calibri" pitchFamily="34" charset="-120"/>
              </a:rPr>
              <a:t>Band</a:t>
            </a:r>
            <a:endParaRPr lang="en-US" sz="1150" dirty="0"/>
          </a:p>
          <a:p>
            <a:pPr marL="0" indent="0">
              <a:buNone/>
            </a:pPr>
            <a:r>
              <a:rPr lang="en-US" sz="1150" b="1" dirty="0">
                <a:solidFill>
                  <a:srgbClr val="3D6FB6"/>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Box umumiy</a:t>
            </a:r>
            <a:endParaRPr lang="en-US" sz="1150" dirty="0"/>
          </a:p>
          <a:p>
            <a:pPr marL="0" indent="0">
              <a:buNone/>
            </a:pPr>
            <a:r>
              <a:rPr lang="en-US" sz="1150" b="1" dirty="0">
                <a:solidFill>
                  <a:srgbClr val="3D6FB6"/>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Force umumiy</a:t>
            </a:r>
            <a:endParaRPr lang="en-US" sz="1150" dirty="0"/>
          </a:p>
        </p:txBody>
      </p:sp>
      <p:sp>
        <p:nvSpPr>
          <p:cNvPr id="16" name="Shape 12"/>
          <p:cNvSpPr/>
          <p:nvPr/>
        </p:nvSpPr>
        <p:spPr>
          <a:xfrm>
            <a:off x="8028432" y="1691640"/>
            <a:ext cx="3611880"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7" name="Shape 13"/>
          <p:cNvSpPr/>
          <p:nvPr/>
        </p:nvSpPr>
        <p:spPr>
          <a:xfrm>
            <a:off x="8229600" y="1874520"/>
            <a:ext cx="457200" cy="457200"/>
          </a:xfrm>
          <a:prstGeom prst="ellipse">
            <a:avLst/>
          </a:prstGeom>
          <a:solidFill>
            <a:srgbClr val="2E9D6B"/>
          </a:solidFill>
          <a:ln w="12700">
            <a:solidFill>
              <a:srgbClr val="2E9D6B"/>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343900" y="1988820"/>
            <a:ext cx="228600" cy="228600"/>
          </a:xfrm>
          <a:prstGeom prst="rect">
            <a:avLst/>
          </a:prstGeom>
        </p:spPr>
      </p:pic>
      <p:sp>
        <p:nvSpPr>
          <p:cNvPr id="19" name="Text 14"/>
          <p:cNvSpPr txBox="1"/>
          <p:nvPr/>
        </p:nvSpPr>
        <p:spPr>
          <a:xfrm>
            <a:off x="8805672" y="1938528"/>
            <a:ext cx="2697480" cy="329184"/>
          </a:xfrm>
          <a:prstGeom prst="rect">
            <a:avLst/>
          </a:prstGeom>
          <a:noFill/>
          <a:ln/>
        </p:spPr>
        <p:txBody>
          <a:bodyPr wrap="square" lIns="0" tIns="0" rIns="0" bIns="0" rtlCol="0" anchor="ctr"/>
          <a:lstStyle/>
          <a:p>
            <a:pPr marL="0" indent="0">
              <a:buNone/>
            </a:pPr>
            <a:r>
              <a:rPr lang="en-US" sz="1500" b="1" dirty="0">
                <a:solidFill>
                  <a:srgbClr val="1A2233"/>
                </a:solidFill>
                <a:latin typeface="Calibri" pitchFamily="34" charset="0"/>
                <a:ea typeface="Calibri" pitchFamily="34" charset="-122"/>
                <a:cs typeface="Calibri" pitchFamily="34" charset="-120"/>
              </a:rPr>
              <a:t>Reabilitatsiya markazi</a:t>
            </a:r>
            <a:endParaRPr lang="en-US" sz="1500" dirty="0"/>
          </a:p>
        </p:txBody>
      </p:sp>
      <p:sp>
        <p:nvSpPr>
          <p:cNvPr id="20" name="Text 15"/>
          <p:cNvSpPr txBox="1"/>
          <p:nvPr/>
        </p:nvSpPr>
        <p:spPr>
          <a:xfrm>
            <a:off x="8302752" y="2423160"/>
            <a:ext cx="3154680" cy="640080"/>
          </a:xfrm>
          <a:prstGeom prst="rect">
            <a:avLst/>
          </a:prstGeom>
          <a:noFill/>
          <a:ln/>
        </p:spPr>
        <p:txBody>
          <a:bodyPr wrap="square" lIns="0" tIns="0" rIns="0" bIns="0" rtlCol="0" anchor="t"/>
          <a:lstStyle/>
          <a:p>
            <a:pPr marL="0" indent="0">
              <a:buNone/>
            </a:pPr>
            <a:r>
              <a:rPr lang="en-US" sz="1150" b="1" dirty="0">
                <a:solidFill>
                  <a:srgbClr val="2E9D6B"/>
                </a:solidFill>
                <a:latin typeface="Calibri" pitchFamily="34" charset="0"/>
                <a:ea typeface="Calibri" pitchFamily="34" charset="-122"/>
                <a:cs typeface="Calibri" pitchFamily="34" charset="-120"/>
              </a:rPr>
              <a:t>har biriga </a:t>
            </a:r>
            <a:r>
              <a:rPr lang="en-US" sz="1150" dirty="0">
                <a:solidFill>
                  <a:srgbClr val="1A2233"/>
                </a:solidFill>
                <a:latin typeface="Calibri" pitchFamily="34" charset="0"/>
                <a:ea typeface="Calibri" pitchFamily="34" charset="-122"/>
                <a:cs typeface="Calibri" pitchFamily="34" charset="-120"/>
              </a:rPr>
              <a:t>Band</a:t>
            </a:r>
            <a:endParaRPr lang="en-US" sz="1150" dirty="0"/>
          </a:p>
          <a:p>
            <a:pPr marL="0" indent="0">
              <a:buNone/>
            </a:pPr>
            <a:r>
              <a:rPr lang="en-US" sz="1150" b="1" dirty="0">
                <a:solidFill>
                  <a:srgbClr val="2E9D6B"/>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Box — ko‘p bemorga</a:t>
            </a:r>
            <a:endParaRPr lang="en-US" sz="1150" dirty="0"/>
          </a:p>
          <a:p>
            <a:pPr marL="0" indent="0">
              <a:buNone/>
            </a:pPr>
            <a:r>
              <a:rPr lang="en-US" sz="1150" b="1" dirty="0">
                <a:solidFill>
                  <a:srgbClr val="2E9D6B"/>
                </a:solidFill>
                <a:latin typeface="Calibri" pitchFamily="34" charset="0"/>
                <a:ea typeface="Calibri" pitchFamily="34" charset="-122"/>
                <a:cs typeface="Calibri" pitchFamily="34" charset="-120"/>
              </a:rPr>
              <a:t>1 </a:t>
            </a:r>
            <a:r>
              <a:rPr lang="en-US" sz="1150" dirty="0">
                <a:solidFill>
                  <a:srgbClr val="1A2233"/>
                </a:solidFill>
                <a:latin typeface="Calibri" pitchFamily="34" charset="0"/>
                <a:ea typeface="Calibri" pitchFamily="34" charset="-122"/>
                <a:cs typeface="Calibri" pitchFamily="34" charset="-120"/>
              </a:rPr>
              <a:t>Force — ko‘p bemorga</a:t>
            </a:r>
            <a:endParaRPr lang="en-US" sz="1150" dirty="0"/>
          </a:p>
        </p:txBody>
      </p:sp>
      <p:sp>
        <p:nvSpPr>
          <p:cNvPr id="21" name="Shape 16"/>
          <p:cNvSpPr/>
          <p:nvPr/>
        </p:nvSpPr>
        <p:spPr>
          <a:xfrm>
            <a:off x="548640" y="3246120"/>
            <a:ext cx="2679192"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2" name="Shape 17"/>
          <p:cNvSpPr/>
          <p:nvPr/>
        </p:nvSpPr>
        <p:spPr>
          <a:xfrm>
            <a:off x="731520" y="3429000"/>
            <a:ext cx="402336" cy="402336"/>
          </a:xfrm>
          <a:prstGeom prst="ellipse">
            <a:avLst/>
          </a:prstGeom>
          <a:solidFill>
            <a:srgbClr val="16325C"/>
          </a:solidFill>
          <a:ln w="12700">
            <a:solidFill>
              <a:srgbClr val="16325C"/>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832104" y="3529584"/>
            <a:ext cx="201168" cy="201168"/>
          </a:xfrm>
          <a:prstGeom prst="rect">
            <a:avLst/>
          </a:prstGeom>
        </p:spPr>
      </p:pic>
      <p:sp>
        <p:nvSpPr>
          <p:cNvPr id="24" name="Text 18"/>
          <p:cNvSpPr txBox="1"/>
          <p:nvPr/>
        </p:nvSpPr>
        <p:spPr>
          <a:xfrm>
            <a:off x="1234440" y="3474720"/>
            <a:ext cx="1901952" cy="292608"/>
          </a:xfrm>
          <a:prstGeom prst="rect">
            <a:avLst/>
          </a:prstGeom>
          <a:noFill/>
          <a:ln/>
        </p:spPr>
        <p:txBody>
          <a:bodyPr wrap="square" lIns="0" tIns="0" rIns="0" bIns="0" rtlCol="0" anchor="ctr"/>
          <a:lstStyle/>
          <a:p>
            <a:pPr marL="0" indent="0">
              <a:buNone/>
            </a:pPr>
            <a:r>
              <a:rPr lang="en-US" sz="1350" b="1" dirty="0">
                <a:solidFill>
                  <a:srgbClr val="1A2233"/>
                </a:solidFill>
                <a:latin typeface="Calibri" pitchFamily="34" charset="0"/>
                <a:ea typeface="Calibri" pitchFamily="34" charset="-122"/>
                <a:cs typeface="Calibri" pitchFamily="34" charset="-120"/>
              </a:rPr>
              <a:t>Band ijarasi</a:t>
            </a:r>
            <a:endParaRPr lang="en-US" sz="1350" dirty="0"/>
          </a:p>
        </p:txBody>
      </p:sp>
      <p:sp>
        <p:nvSpPr>
          <p:cNvPr id="25" name="Text 19"/>
          <p:cNvSpPr txBox="1"/>
          <p:nvPr/>
        </p:nvSpPr>
        <p:spPr>
          <a:xfrm>
            <a:off x="749808" y="3886200"/>
            <a:ext cx="2359152" cy="384048"/>
          </a:xfrm>
          <a:prstGeom prst="rect">
            <a:avLst/>
          </a:prstGeom>
          <a:noFill/>
          <a:ln/>
        </p:spPr>
        <p:txBody>
          <a:bodyPr wrap="square" lIns="0" tIns="0" rIns="0" bIns="0" rtlCol="0" anchor="ctr"/>
          <a:lstStyle/>
          <a:p>
            <a:pPr marL="0" indent="0">
              <a:buNone/>
            </a:pPr>
            <a:r>
              <a:rPr lang="en-US" sz="2400" b="1" dirty="0">
                <a:solidFill>
                  <a:srgbClr val="16325C"/>
                </a:solidFill>
                <a:latin typeface="Calibri" pitchFamily="34" charset="0"/>
                <a:ea typeface="Calibri" pitchFamily="34" charset="-122"/>
                <a:cs typeface="Calibri" pitchFamily="34" charset="-120"/>
              </a:rPr>
              <a:t>$10</a:t>
            </a:r>
            <a:r>
              <a:rPr lang="en-US" sz="1100" dirty="0">
                <a:solidFill>
                  <a:srgbClr val="5E6B80"/>
                </a:solidFill>
                <a:latin typeface="Calibri" pitchFamily="34" charset="0"/>
                <a:ea typeface="Calibri" pitchFamily="34" charset="-122"/>
                <a:cs typeface="Calibri" pitchFamily="34" charset="-120"/>
              </a:rPr>
              <a:t>  bemor / oy</a:t>
            </a:r>
            <a:endParaRPr lang="en-US" sz="2400" dirty="0"/>
          </a:p>
        </p:txBody>
      </p:sp>
      <p:sp>
        <p:nvSpPr>
          <p:cNvPr id="26" name="Text 20"/>
          <p:cNvSpPr txBox="1"/>
          <p:nvPr/>
        </p:nvSpPr>
        <p:spPr>
          <a:xfrm>
            <a:off x="749808" y="4288536"/>
            <a:ext cx="2359152" cy="292608"/>
          </a:xfrm>
          <a:prstGeom prst="rect">
            <a:avLst/>
          </a:prstGeom>
          <a:noFill/>
          <a:ln/>
        </p:spPr>
        <p:txBody>
          <a:bodyPr wrap="square" lIns="0" tIns="0" rIns="0" bIns="0" rtlCol="0" anchor="t"/>
          <a:lstStyle/>
          <a:p>
            <a:pPr marL="0" indent="0">
              <a:buNone/>
            </a:pPr>
            <a:r>
              <a:rPr lang="en-US" sz="1050" dirty="0">
                <a:solidFill>
                  <a:srgbClr val="5E6B80"/>
                </a:solidFill>
                <a:latin typeface="Calibri" pitchFamily="34" charset="0"/>
                <a:ea typeface="Calibri" pitchFamily="34" charset="-122"/>
                <a:cs typeface="Calibri" pitchFamily="34" charset="-120"/>
              </a:rPr>
              <a:t>Har bir bemorga alohida, 30–90 kun</a:t>
            </a:r>
            <a:endParaRPr lang="en-US" sz="1050" dirty="0"/>
          </a:p>
        </p:txBody>
      </p:sp>
      <p:sp>
        <p:nvSpPr>
          <p:cNvPr id="27" name="Shape 21"/>
          <p:cNvSpPr/>
          <p:nvPr/>
        </p:nvSpPr>
        <p:spPr>
          <a:xfrm>
            <a:off x="3353105" y="3246120"/>
            <a:ext cx="2679192"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8" name="Shape 22"/>
          <p:cNvSpPr/>
          <p:nvPr/>
        </p:nvSpPr>
        <p:spPr>
          <a:xfrm>
            <a:off x="3535985" y="3429000"/>
            <a:ext cx="402336" cy="402336"/>
          </a:xfrm>
          <a:prstGeom prst="ellipse">
            <a:avLst/>
          </a:prstGeom>
          <a:solidFill>
            <a:srgbClr val="3D6FB6"/>
          </a:solidFill>
          <a:ln w="12700">
            <a:solidFill>
              <a:srgbClr val="3D6FB6"/>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3636569" y="3529584"/>
            <a:ext cx="201168" cy="201168"/>
          </a:xfrm>
          <a:prstGeom prst="rect">
            <a:avLst/>
          </a:prstGeom>
        </p:spPr>
      </p:pic>
      <p:sp>
        <p:nvSpPr>
          <p:cNvPr id="30" name="Text 23"/>
          <p:cNvSpPr txBox="1"/>
          <p:nvPr/>
        </p:nvSpPr>
        <p:spPr>
          <a:xfrm>
            <a:off x="4038905" y="3474720"/>
            <a:ext cx="1901952" cy="292608"/>
          </a:xfrm>
          <a:prstGeom prst="rect">
            <a:avLst/>
          </a:prstGeom>
          <a:noFill/>
          <a:ln/>
        </p:spPr>
        <p:txBody>
          <a:bodyPr wrap="square" lIns="0" tIns="0" rIns="0" bIns="0" rtlCol="0" anchor="ctr"/>
          <a:lstStyle/>
          <a:p>
            <a:pPr marL="0" indent="0">
              <a:buNone/>
            </a:pPr>
            <a:r>
              <a:rPr lang="en-US" sz="1350" b="1" dirty="0">
                <a:solidFill>
                  <a:srgbClr val="1A2233"/>
                </a:solidFill>
                <a:latin typeface="Calibri" pitchFamily="34" charset="0"/>
                <a:ea typeface="Calibri" pitchFamily="34" charset="-122"/>
                <a:cs typeface="Calibri" pitchFamily="34" charset="-120"/>
              </a:rPr>
              <a:t>Box ijarasi</a:t>
            </a:r>
            <a:endParaRPr lang="en-US" sz="1350" dirty="0"/>
          </a:p>
        </p:txBody>
      </p:sp>
      <p:sp>
        <p:nvSpPr>
          <p:cNvPr id="31" name="Text 24"/>
          <p:cNvSpPr txBox="1"/>
          <p:nvPr/>
        </p:nvSpPr>
        <p:spPr>
          <a:xfrm>
            <a:off x="3554273" y="3886200"/>
            <a:ext cx="2359152" cy="384048"/>
          </a:xfrm>
          <a:prstGeom prst="rect">
            <a:avLst/>
          </a:prstGeom>
          <a:noFill/>
          <a:ln/>
        </p:spPr>
        <p:txBody>
          <a:bodyPr wrap="square" lIns="0" tIns="0" rIns="0" bIns="0" rtlCol="0" anchor="ctr"/>
          <a:lstStyle/>
          <a:p>
            <a:pPr marL="0" indent="0">
              <a:buNone/>
            </a:pPr>
            <a:r>
              <a:rPr lang="en-US" sz="2400" b="1" dirty="0">
                <a:solidFill>
                  <a:srgbClr val="3D6FB6"/>
                </a:solidFill>
                <a:latin typeface="Calibri" pitchFamily="34" charset="0"/>
                <a:ea typeface="Calibri" pitchFamily="34" charset="-122"/>
                <a:cs typeface="Calibri" pitchFamily="34" charset="-120"/>
              </a:rPr>
              <a:t>$20</a:t>
            </a:r>
            <a:r>
              <a:rPr lang="en-US" sz="1100" dirty="0">
                <a:solidFill>
                  <a:srgbClr val="5E6B80"/>
                </a:solidFill>
                <a:latin typeface="Calibri" pitchFamily="34" charset="0"/>
                <a:ea typeface="Calibri" pitchFamily="34" charset="-122"/>
                <a:cs typeface="Calibri" pitchFamily="34" charset="-120"/>
              </a:rPr>
              <a:t>  uy yoki markaz / oy</a:t>
            </a:r>
            <a:endParaRPr lang="en-US" sz="2400" dirty="0"/>
          </a:p>
        </p:txBody>
      </p:sp>
      <p:sp>
        <p:nvSpPr>
          <p:cNvPr id="32" name="Text 25"/>
          <p:cNvSpPr txBox="1"/>
          <p:nvPr/>
        </p:nvSpPr>
        <p:spPr>
          <a:xfrm>
            <a:off x="3554273" y="4288536"/>
            <a:ext cx="2359152" cy="292608"/>
          </a:xfrm>
          <a:prstGeom prst="rect">
            <a:avLst/>
          </a:prstGeom>
          <a:noFill/>
          <a:ln/>
        </p:spPr>
        <p:txBody>
          <a:bodyPr wrap="square" lIns="0" tIns="0" rIns="0" bIns="0" rtlCol="0" anchor="t"/>
          <a:lstStyle/>
          <a:p>
            <a:pPr marL="0" indent="0">
              <a:buNone/>
            </a:pPr>
            <a:r>
              <a:rPr lang="en-US" sz="1050" dirty="0">
                <a:solidFill>
                  <a:srgbClr val="5E6B80"/>
                </a:solidFill>
                <a:latin typeface="Calibri" pitchFamily="34" charset="0"/>
                <a:ea typeface="Calibri" pitchFamily="34" charset="-122"/>
                <a:cs typeface="Calibri" pitchFamily="34" charset="-120"/>
              </a:rPr>
              <a:t>Sanitariyadan so‘ng keyingi joyga</a:t>
            </a:r>
            <a:endParaRPr lang="en-US" sz="1050" dirty="0"/>
          </a:p>
        </p:txBody>
      </p:sp>
      <p:sp>
        <p:nvSpPr>
          <p:cNvPr id="33" name="Shape 26"/>
          <p:cNvSpPr/>
          <p:nvPr/>
        </p:nvSpPr>
        <p:spPr>
          <a:xfrm>
            <a:off x="6157570" y="3246120"/>
            <a:ext cx="2679192"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34" name="Shape 27"/>
          <p:cNvSpPr/>
          <p:nvPr/>
        </p:nvSpPr>
        <p:spPr>
          <a:xfrm>
            <a:off x="6340450" y="3429000"/>
            <a:ext cx="402336" cy="402336"/>
          </a:xfrm>
          <a:prstGeom prst="ellipse">
            <a:avLst/>
          </a:prstGeom>
          <a:solidFill>
            <a:srgbClr val="2E9D6B"/>
          </a:solidFill>
          <a:ln w="12700">
            <a:solidFill>
              <a:srgbClr val="2E9D6B"/>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6441034" y="3529584"/>
            <a:ext cx="201168" cy="201168"/>
          </a:xfrm>
          <a:prstGeom prst="rect">
            <a:avLst/>
          </a:prstGeom>
        </p:spPr>
      </p:pic>
      <p:sp>
        <p:nvSpPr>
          <p:cNvPr id="36" name="Text 28"/>
          <p:cNvSpPr txBox="1"/>
          <p:nvPr/>
        </p:nvSpPr>
        <p:spPr>
          <a:xfrm>
            <a:off x="6843370" y="3474720"/>
            <a:ext cx="1901952" cy="292608"/>
          </a:xfrm>
          <a:prstGeom prst="rect">
            <a:avLst/>
          </a:prstGeom>
          <a:noFill/>
          <a:ln/>
        </p:spPr>
        <p:txBody>
          <a:bodyPr wrap="square" lIns="0" tIns="0" rIns="0" bIns="0" rtlCol="0" anchor="ctr"/>
          <a:lstStyle/>
          <a:p>
            <a:pPr marL="0" indent="0">
              <a:buNone/>
            </a:pPr>
            <a:r>
              <a:rPr lang="en-US" sz="1350" b="1" dirty="0">
                <a:solidFill>
                  <a:srgbClr val="1A2233"/>
                </a:solidFill>
                <a:latin typeface="Calibri" pitchFamily="34" charset="0"/>
                <a:ea typeface="Calibri" pitchFamily="34" charset="-122"/>
                <a:cs typeface="Calibri" pitchFamily="34" charset="-120"/>
              </a:rPr>
              <a:t>MIRA Force</a:t>
            </a:r>
            <a:endParaRPr lang="en-US" sz="1350" dirty="0"/>
          </a:p>
        </p:txBody>
      </p:sp>
      <p:sp>
        <p:nvSpPr>
          <p:cNvPr id="37" name="Text 29"/>
          <p:cNvSpPr txBox="1"/>
          <p:nvPr/>
        </p:nvSpPr>
        <p:spPr>
          <a:xfrm>
            <a:off x="6358738" y="3886200"/>
            <a:ext cx="2359152" cy="384048"/>
          </a:xfrm>
          <a:prstGeom prst="rect">
            <a:avLst/>
          </a:prstGeom>
          <a:noFill/>
          <a:ln/>
        </p:spPr>
        <p:txBody>
          <a:bodyPr wrap="square" lIns="0" tIns="0" rIns="0" bIns="0" rtlCol="0" anchor="ctr"/>
          <a:lstStyle/>
          <a:p>
            <a:pPr marL="0" indent="0">
              <a:buNone/>
            </a:pPr>
            <a:r>
              <a:rPr lang="en-US" sz="2400" b="1" dirty="0">
                <a:solidFill>
                  <a:srgbClr val="2E9D6B"/>
                </a:solidFill>
                <a:latin typeface="Calibri" pitchFamily="34" charset="0"/>
                <a:ea typeface="Calibri" pitchFamily="34" charset="-122"/>
                <a:cs typeface="Calibri" pitchFamily="34" charset="-120"/>
              </a:rPr>
              <a:t>$20</a:t>
            </a:r>
            <a:r>
              <a:rPr lang="en-US" sz="1100" dirty="0">
                <a:solidFill>
                  <a:srgbClr val="5E6B80"/>
                </a:solidFill>
                <a:latin typeface="Calibri" pitchFamily="34" charset="0"/>
                <a:ea typeface="Calibri" pitchFamily="34" charset="-122"/>
                <a:cs typeface="Calibri" pitchFamily="34" charset="-120"/>
              </a:rPr>
              <a:t>  bir martalik sotuv</a:t>
            </a:r>
            <a:endParaRPr lang="en-US" sz="2400" dirty="0"/>
          </a:p>
        </p:txBody>
      </p:sp>
      <p:sp>
        <p:nvSpPr>
          <p:cNvPr id="38" name="Text 30"/>
          <p:cNvSpPr txBox="1"/>
          <p:nvPr/>
        </p:nvSpPr>
        <p:spPr>
          <a:xfrm>
            <a:off x="6358738" y="4288536"/>
            <a:ext cx="2359152" cy="292608"/>
          </a:xfrm>
          <a:prstGeom prst="rect">
            <a:avLst/>
          </a:prstGeom>
          <a:noFill/>
          <a:ln/>
        </p:spPr>
        <p:txBody>
          <a:bodyPr wrap="square" lIns="0" tIns="0" rIns="0" bIns="0" rtlCol="0" anchor="t"/>
          <a:lstStyle/>
          <a:p>
            <a:pPr marL="0" indent="0">
              <a:buNone/>
            </a:pPr>
            <a:r>
              <a:rPr lang="en-US" sz="1050" dirty="0">
                <a:solidFill>
                  <a:srgbClr val="5E6B80"/>
                </a:solidFill>
                <a:latin typeface="Calibri" pitchFamily="34" charset="0"/>
                <a:ea typeface="Calibri" pitchFamily="34" charset="-122"/>
                <a:cs typeface="Calibri" pitchFamily="34" charset="-120"/>
              </a:rPr>
              <a:t>Uy yoki markazda qoladi</a:t>
            </a:r>
            <a:endParaRPr lang="en-US" sz="1050" dirty="0"/>
          </a:p>
        </p:txBody>
      </p:sp>
      <p:sp>
        <p:nvSpPr>
          <p:cNvPr id="39" name="Shape 31"/>
          <p:cNvSpPr/>
          <p:nvPr/>
        </p:nvSpPr>
        <p:spPr>
          <a:xfrm>
            <a:off x="8962034" y="3246120"/>
            <a:ext cx="2679192" cy="1417320"/>
          </a:xfrm>
          <a:prstGeom prst="roundRect">
            <a:avLst>
              <a:gd name="adj" fmla="val 7742"/>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40" name="Shape 32"/>
          <p:cNvSpPr/>
          <p:nvPr/>
        </p:nvSpPr>
        <p:spPr>
          <a:xfrm>
            <a:off x="9144914" y="3429000"/>
            <a:ext cx="402336" cy="402336"/>
          </a:xfrm>
          <a:prstGeom prst="ellipse">
            <a:avLst/>
          </a:prstGeom>
          <a:solidFill>
            <a:srgbClr val="D98A12"/>
          </a:solidFill>
          <a:ln w="12700">
            <a:solidFill>
              <a:srgbClr val="D98A12"/>
            </a:solidFill>
            <a:prstDash val="solid"/>
          </a:ln>
        </p:spPr>
        <p:txBody>
          <a:bodyPr/>
          <a:lstStyle/>
          <a:p>
            <a:endParaRPr lang="en-US"/>
          </a:p>
        </p:txBody>
      </p:sp>
      <p:pic>
        <p:nvPicPr>
          <p:cNvPr id="41" name="Image 6" descr="preencoded.png"/>
          <p:cNvPicPr>
            <a:picLocks noChangeAspect="1"/>
          </p:cNvPicPr>
          <p:nvPr/>
        </p:nvPicPr>
        <p:blipFill>
          <a:blip r:embed="rId9"/>
          <a:stretch>
            <a:fillRect/>
          </a:stretch>
        </p:blipFill>
        <p:spPr>
          <a:xfrm>
            <a:off x="9245498" y="3529584"/>
            <a:ext cx="201168" cy="201168"/>
          </a:xfrm>
          <a:prstGeom prst="rect">
            <a:avLst/>
          </a:prstGeom>
        </p:spPr>
      </p:pic>
      <p:sp>
        <p:nvSpPr>
          <p:cNvPr id="42" name="Text 33"/>
          <p:cNvSpPr txBox="1"/>
          <p:nvPr/>
        </p:nvSpPr>
        <p:spPr>
          <a:xfrm>
            <a:off x="9647834" y="3474720"/>
            <a:ext cx="1901952" cy="292608"/>
          </a:xfrm>
          <a:prstGeom prst="rect">
            <a:avLst/>
          </a:prstGeom>
          <a:noFill/>
          <a:ln/>
        </p:spPr>
        <p:txBody>
          <a:bodyPr wrap="square" lIns="0" tIns="0" rIns="0" bIns="0" rtlCol="0" anchor="ctr"/>
          <a:lstStyle/>
          <a:p>
            <a:pPr marL="0" indent="0">
              <a:buNone/>
            </a:pPr>
            <a:r>
              <a:rPr lang="en-US" sz="1350" b="1" dirty="0">
                <a:solidFill>
                  <a:srgbClr val="1A2233"/>
                </a:solidFill>
                <a:latin typeface="Calibri" pitchFamily="34" charset="0"/>
                <a:ea typeface="Calibri" pitchFamily="34" charset="-122"/>
                <a:cs typeface="Calibri" pitchFamily="34" charset="-120"/>
              </a:rPr>
              <a:t>Test-strip</a:t>
            </a:r>
            <a:endParaRPr lang="en-US" sz="1350" dirty="0"/>
          </a:p>
        </p:txBody>
      </p:sp>
      <p:sp>
        <p:nvSpPr>
          <p:cNvPr id="43" name="Text 34"/>
          <p:cNvSpPr txBox="1"/>
          <p:nvPr/>
        </p:nvSpPr>
        <p:spPr>
          <a:xfrm>
            <a:off x="9163202" y="3886200"/>
            <a:ext cx="2359152" cy="384048"/>
          </a:xfrm>
          <a:prstGeom prst="rect">
            <a:avLst/>
          </a:prstGeom>
          <a:noFill/>
          <a:ln/>
        </p:spPr>
        <p:txBody>
          <a:bodyPr wrap="square" lIns="0" tIns="0" rIns="0" bIns="0" rtlCol="0" anchor="ctr"/>
          <a:lstStyle/>
          <a:p>
            <a:pPr marL="0" indent="0">
              <a:buNone/>
            </a:pPr>
            <a:r>
              <a:rPr lang="en-US" sz="2400" b="1" dirty="0">
                <a:solidFill>
                  <a:srgbClr val="D98A12"/>
                </a:solidFill>
                <a:latin typeface="Calibri" pitchFamily="34" charset="0"/>
                <a:ea typeface="Calibri" pitchFamily="34" charset="-122"/>
                <a:cs typeface="Calibri" pitchFamily="34" charset="-120"/>
              </a:rPr>
              <a:t>≈ $1,5</a:t>
            </a:r>
            <a:r>
              <a:rPr lang="en-US" sz="1100" dirty="0">
                <a:solidFill>
                  <a:srgbClr val="5E6B80"/>
                </a:solidFill>
                <a:latin typeface="Calibri" pitchFamily="34" charset="0"/>
                <a:ea typeface="Calibri" pitchFamily="34" charset="-122"/>
                <a:cs typeface="Calibri" pitchFamily="34" charset="-120"/>
              </a:rPr>
              <a:t>  1 test, tannarxda</a:t>
            </a:r>
            <a:endParaRPr lang="en-US" sz="2400" dirty="0"/>
          </a:p>
        </p:txBody>
      </p:sp>
      <p:sp>
        <p:nvSpPr>
          <p:cNvPr id="44" name="Text 35"/>
          <p:cNvSpPr txBox="1"/>
          <p:nvPr/>
        </p:nvSpPr>
        <p:spPr>
          <a:xfrm>
            <a:off x="9163202" y="4288536"/>
            <a:ext cx="2359152" cy="292608"/>
          </a:xfrm>
          <a:prstGeom prst="rect">
            <a:avLst/>
          </a:prstGeom>
          <a:noFill/>
          <a:ln/>
        </p:spPr>
        <p:txBody>
          <a:bodyPr wrap="square" lIns="0" tIns="0" rIns="0" bIns="0" rtlCol="0" anchor="t"/>
          <a:lstStyle/>
          <a:p>
            <a:pPr marL="0" indent="0">
              <a:buNone/>
            </a:pPr>
            <a:r>
              <a:rPr lang="en-US" sz="1050" dirty="0">
                <a:solidFill>
                  <a:srgbClr val="5E6B80"/>
                </a:solidFill>
                <a:latin typeface="Calibri" pitchFamily="34" charset="0"/>
                <a:ea typeface="Calibri" pitchFamily="34" charset="-122"/>
                <a:cs typeface="Calibri" pitchFamily="34" charset="-120"/>
              </a:rPr>
              <a:t>Faqat Box tekshiruvi kerak bo‘lganda</a:t>
            </a:r>
            <a:endParaRPr lang="en-US" sz="1050" dirty="0"/>
          </a:p>
        </p:txBody>
      </p:sp>
      <p:sp>
        <p:nvSpPr>
          <p:cNvPr id="45" name="Shape 36"/>
          <p:cNvSpPr/>
          <p:nvPr/>
        </p:nvSpPr>
        <p:spPr>
          <a:xfrm>
            <a:off x="548640" y="4800600"/>
            <a:ext cx="11091672" cy="1527048"/>
          </a:xfrm>
          <a:prstGeom prst="roundRect">
            <a:avLst>
              <a:gd name="adj" fmla="val 7186"/>
            </a:avLst>
          </a:prstGeom>
          <a:solidFill>
            <a:srgbClr val="0E1B33"/>
          </a:solidFill>
          <a:ln w="9525">
            <a:solidFill>
              <a:srgbClr val="0E1B33"/>
            </a:solidFill>
            <a:prstDash val="solid"/>
          </a:ln>
          <a:effectLst>
            <a:outerShdw blurRad="177800" dist="38100" dir="5400000" algn="bl" rotWithShape="0">
              <a:srgbClr val="1A2233">
                <a:alpha val="10000"/>
              </a:srgbClr>
            </a:outerShdw>
          </a:effectLst>
        </p:spPr>
        <p:txBody>
          <a:bodyPr/>
          <a:lstStyle/>
          <a:p>
            <a:endParaRPr lang="en-US"/>
          </a:p>
        </p:txBody>
      </p:sp>
      <p:sp>
        <p:nvSpPr>
          <p:cNvPr id="46" name="Text 37"/>
          <p:cNvSpPr txBox="1"/>
          <p:nvPr/>
        </p:nvSpPr>
        <p:spPr>
          <a:xfrm>
            <a:off x="822960" y="4946904"/>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Reabilitatsiya markazi, 10 bemor</a:t>
            </a:r>
            <a:endParaRPr lang="en-US" sz="1300" dirty="0"/>
          </a:p>
        </p:txBody>
      </p:sp>
      <p:sp>
        <p:nvSpPr>
          <p:cNvPr id="47" name="Text 38"/>
          <p:cNvSpPr txBox="1"/>
          <p:nvPr/>
        </p:nvSpPr>
        <p:spPr>
          <a:xfrm>
            <a:off x="822960" y="5276088"/>
            <a:ext cx="1783080" cy="502920"/>
          </a:xfrm>
          <a:prstGeom prst="rect">
            <a:avLst/>
          </a:prstGeom>
          <a:noFill/>
          <a:ln/>
        </p:spPr>
        <p:txBody>
          <a:bodyPr wrap="square" lIns="0" tIns="0" rIns="0" bIns="0" rtlCol="0" anchor="ctr"/>
          <a:lstStyle/>
          <a:p>
            <a:pPr marL="0" indent="0">
              <a:buNone/>
            </a:pPr>
            <a:r>
              <a:rPr lang="en-US" sz="2500" b="1" dirty="0">
                <a:solidFill>
                  <a:srgbClr val="FF9A90"/>
                </a:solidFill>
                <a:latin typeface="Calibri" pitchFamily="34" charset="0"/>
                <a:ea typeface="Calibri" pitchFamily="34" charset="-122"/>
                <a:cs typeface="Calibri" pitchFamily="34" charset="-120"/>
              </a:rPr>
              <a:t>$1 770</a:t>
            </a:r>
            <a:endParaRPr lang="en-US" sz="2500" dirty="0"/>
          </a:p>
        </p:txBody>
      </p:sp>
      <p:sp>
        <p:nvSpPr>
          <p:cNvPr id="48" name="Text 39"/>
          <p:cNvSpPr txBox="1"/>
          <p:nvPr/>
        </p:nvSpPr>
        <p:spPr>
          <a:xfrm>
            <a:off x="822960" y="5788152"/>
            <a:ext cx="1737360" cy="457200"/>
          </a:xfrm>
          <a:prstGeom prst="rect">
            <a:avLst/>
          </a:prstGeom>
          <a:noFill/>
          <a:ln/>
        </p:spPr>
        <p:txBody>
          <a:bodyPr wrap="square" lIns="0" tIns="0" rIns="0" bIns="0" rtlCol="0" anchor="t"/>
          <a:lstStyle/>
          <a:p>
            <a:pPr marL="0" indent="0">
              <a:buNone/>
            </a:pPr>
            <a:r>
              <a:rPr lang="en-US" sz="1050" dirty="0">
                <a:solidFill>
                  <a:srgbClr val="9FB3D1"/>
                </a:solidFill>
                <a:latin typeface="Calibri" pitchFamily="34" charset="0"/>
                <a:ea typeface="Calibri" pitchFamily="34" charset="-122"/>
                <a:cs typeface="Calibri" pitchFamily="34" charset="-120"/>
              </a:rPr>
              <a:t>har biriga to‘liq to‘plam</a:t>
            </a:r>
            <a:endParaRPr lang="en-US" sz="1050" dirty="0"/>
          </a:p>
        </p:txBody>
      </p:sp>
      <p:sp>
        <p:nvSpPr>
          <p:cNvPr id="49" name="Text 40"/>
          <p:cNvSpPr txBox="1"/>
          <p:nvPr/>
        </p:nvSpPr>
        <p:spPr>
          <a:xfrm>
            <a:off x="2697480" y="5276088"/>
            <a:ext cx="1783080" cy="502920"/>
          </a:xfrm>
          <a:prstGeom prst="rect">
            <a:avLst/>
          </a:prstGeom>
          <a:noFill/>
          <a:ln/>
        </p:spPr>
        <p:txBody>
          <a:bodyPr wrap="square" lIns="0" tIns="0" rIns="0" bIns="0" rtlCol="0" anchor="ctr"/>
          <a:lstStyle/>
          <a:p>
            <a:pPr marL="0" indent="0">
              <a:buNone/>
            </a:pPr>
            <a:r>
              <a:rPr lang="en-US" sz="2500" b="1" dirty="0">
                <a:solidFill>
                  <a:srgbClr val="5FD39A"/>
                </a:solidFill>
                <a:latin typeface="Calibri" pitchFamily="34" charset="0"/>
                <a:ea typeface="Calibri" pitchFamily="34" charset="-122"/>
                <a:cs typeface="Calibri" pitchFamily="34" charset="-120"/>
              </a:rPr>
              <a:t>$609</a:t>
            </a:r>
            <a:endParaRPr lang="en-US" sz="2500" dirty="0"/>
          </a:p>
        </p:txBody>
      </p:sp>
      <p:sp>
        <p:nvSpPr>
          <p:cNvPr id="50" name="Text 41"/>
          <p:cNvSpPr txBox="1"/>
          <p:nvPr/>
        </p:nvSpPr>
        <p:spPr>
          <a:xfrm>
            <a:off x="2697480" y="5788152"/>
            <a:ext cx="1737360" cy="457200"/>
          </a:xfrm>
          <a:prstGeom prst="rect">
            <a:avLst/>
          </a:prstGeom>
          <a:noFill/>
          <a:ln/>
        </p:spPr>
        <p:txBody>
          <a:bodyPr wrap="square" lIns="0" tIns="0" rIns="0" bIns="0" rtlCol="0" anchor="t"/>
          <a:lstStyle/>
          <a:p>
            <a:pPr marL="0" indent="0">
              <a:buNone/>
            </a:pPr>
            <a:r>
              <a:rPr lang="en-US" sz="1050" dirty="0">
                <a:solidFill>
                  <a:srgbClr val="9FB3D1"/>
                </a:solidFill>
                <a:latin typeface="Calibri" pitchFamily="34" charset="0"/>
                <a:ea typeface="Calibri" pitchFamily="34" charset="-122"/>
                <a:cs typeface="Calibri" pitchFamily="34" charset="-120"/>
              </a:rPr>
              <a:t>MIRA modeli: 10 Band + 1 Box + 1 Force</a:t>
            </a:r>
            <a:endParaRPr lang="en-US" sz="1050" dirty="0"/>
          </a:p>
        </p:txBody>
      </p:sp>
      <p:sp>
        <p:nvSpPr>
          <p:cNvPr id="51" name="Text 42"/>
          <p:cNvSpPr txBox="1"/>
          <p:nvPr/>
        </p:nvSpPr>
        <p:spPr>
          <a:xfrm>
            <a:off x="4572000" y="5276088"/>
            <a:ext cx="1783080" cy="502920"/>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$120/oy</a:t>
            </a:r>
            <a:endParaRPr lang="en-US" sz="2500" dirty="0"/>
          </a:p>
        </p:txBody>
      </p:sp>
      <p:sp>
        <p:nvSpPr>
          <p:cNvPr id="52" name="Text 43"/>
          <p:cNvSpPr txBox="1"/>
          <p:nvPr/>
        </p:nvSpPr>
        <p:spPr>
          <a:xfrm>
            <a:off x="4572000" y="5788152"/>
            <a:ext cx="1737360" cy="457200"/>
          </a:xfrm>
          <a:prstGeom prst="rect">
            <a:avLst/>
          </a:prstGeom>
          <a:noFill/>
          <a:ln/>
        </p:spPr>
        <p:txBody>
          <a:bodyPr wrap="square" lIns="0" tIns="0" rIns="0" bIns="0" rtlCol="0" anchor="t"/>
          <a:lstStyle/>
          <a:p>
            <a:pPr marL="0" indent="0">
              <a:buNone/>
            </a:pPr>
            <a:r>
              <a:rPr lang="en-US" sz="1050" dirty="0">
                <a:solidFill>
                  <a:srgbClr val="9FB3D1"/>
                </a:solidFill>
                <a:latin typeface="Calibri" pitchFamily="34" charset="0"/>
                <a:ea typeface="Calibri" pitchFamily="34" charset="-122"/>
                <a:cs typeface="Calibri" pitchFamily="34" charset="-120"/>
              </a:rPr>
              <a:t>daromad · ~6 oyda qoplanadi</a:t>
            </a:r>
            <a:endParaRPr lang="en-US" sz="1050" dirty="0"/>
          </a:p>
        </p:txBody>
      </p:sp>
      <p:sp>
        <p:nvSpPr>
          <p:cNvPr id="53" name="Shape 44"/>
          <p:cNvSpPr/>
          <p:nvPr/>
        </p:nvSpPr>
        <p:spPr>
          <a:xfrm>
            <a:off x="6583680" y="5001768"/>
            <a:ext cx="0" cy="1143000"/>
          </a:xfrm>
          <a:prstGeom prst="line">
            <a:avLst/>
          </a:prstGeom>
          <a:noFill/>
          <a:ln w="9525">
            <a:solidFill>
              <a:srgbClr val="2A3D60"/>
            </a:solidFill>
            <a:prstDash val="solid"/>
          </a:ln>
        </p:spPr>
        <p:txBody>
          <a:bodyPr/>
          <a:lstStyle/>
          <a:p>
            <a:endParaRPr lang="en-US"/>
          </a:p>
        </p:txBody>
      </p:sp>
      <p:sp>
        <p:nvSpPr>
          <p:cNvPr id="54" name="Text 45"/>
          <p:cNvSpPr txBox="1"/>
          <p:nvPr/>
        </p:nvSpPr>
        <p:spPr>
          <a:xfrm>
            <a:off x="6858000" y="4946904"/>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 bemor — uyda (o‘rtacha 1,5 oy)</a:t>
            </a:r>
            <a:endParaRPr lang="en-US" sz="1300" dirty="0"/>
          </a:p>
        </p:txBody>
      </p:sp>
      <p:sp>
        <p:nvSpPr>
          <p:cNvPr id="55" name="Text 46"/>
          <p:cNvSpPr txBox="1"/>
          <p:nvPr/>
        </p:nvSpPr>
        <p:spPr>
          <a:xfrm>
            <a:off x="6858000" y="5276088"/>
            <a:ext cx="1463040" cy="502920"/>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$65</a:t>
            </a:r>
            <a:endParaRPr lang="en-US" sz="2500" dirty="0"/>
          </a:p>
        </p:txBody>
      </p:sp>
      <p:sp>
        <p:nvSpPr>
          <p:cNvPr id="56" name="Text 47"/>
          <p:cNvSpPr txBox="1"/>
          <p:nvPr/>
        </p:nvSpPr>
        <p:spPr>
          <a:xfrm>
            <a:off x="6858000" y="5788152"/>
            <a:ext cx="1463040" cy="274320"/>
          </a:xfrm>
          <a:prstGeom prst="rect">
            <a:avLst/>
          </a:prstGeom>
          <a:noFill/>
          <a:ln/>
        </p:spPr>
        <p:txBody>
          <a:bodyPr wrap="square" lIns="0" tIns="0" rIns="0" bIns="0" rtlCol="0" anchor="ctr"/>
          <a:lstStyle/>
          <a:p>
            <a:pPr marL="0" indent="0">
              <a:buNone/>
            </a:pPr>
            <a:r>
              <a:rPr lang="en-US" sz="1050" dirty="0">
                <a:solidFill>
                  <a:srgbClr val="9FB3D1"/>
                </a:solidFill>
                <a:latin typeface="Calibri" pitchFamily="34" charset="0"/>
                <a:ea typeface="Calibri" pitchFamily="34" charset="-122"/>
                <a:cs typeface="Calibri" pitchFamily="34" charset="-120"/>
              </a:rPr>
              <a:t>daromad</a:t>
            </a:r>
            <a:endParaRPr lang="en-US" sz="1050" dirty="0"/>
          </a:p>
        </p:txBody>
      </p:sp>
      <p:sp>
        <p:nvSpPr>
          <p:cNvPr id="57" name="Text 48"/>
          <p:cNvSpPr txBox="1"/>
          <p:nvPr/>
        </p:nvSpPr>
        <p:spPr>
          <a:xfrm>
            <a:off x="8412480" y="5276088"/>
            <a:ext cx="1463040" cy="502920"/>
          </a:xfrm>
          <a:prstGeom prst="rect">
            <a:avLst/>
          </a:prstGeom>
          <a:noFill/>
          <a:ln/>
        </p:spPr>
        <p:txBody>
          <a:bodyPr wrap="square" lIns="0" tIns="0" rIns="0" bIns="0" rtlCol="0" anchor="ctr"/>
          <a:lstStyle/>
          <a:p>
            <a:pPr marL="0" indent="0">
              <a:buNone/>
            </a:pPr>
            <a:r>
              <a:rPr lang="en-US" sz="2500" b="1" dirty="0">
                <a:solidFill>
                  <a:srgbClr val="FF9A90"/>
                </a:solidFill>
                <a:latin typeface="Calibri" pitchFamily="34" charset="0"/>
                <a:ea typeface="Calibri" pitchFamily="34" charset="-122"/>
                <a:cs typeface="Calibri" pitchFamily="34" charset="-120"/>
              </a:rPr>
              <a:t>$25</a:t>
            </a:r>
            <a:endParaRPr lang="en-US" sz="2500" dirty="0"/>
          </a:p>
        </p:txBody>
      </p:sp>
      <p:sp>
        <p:nvSpPr>
          <p:cNvPr id="58" name="Text 49"/>
          <p:cNvSpPr txBox="1"/>
          <p:nvPr/>
        </p:nvSpPr>
        <p:spPr>
          <a:xfrm>
            <a:off x="8412480" y="5788152"/>
            <a:ext cx="1463040" cy="274320"/>
          </a:xfrm>
          <a:prstGeom prst="rect">
            <a:avLst/>
          </a:prstGeom>
          <a:noFill/>
          <a:ln/>
        </p:spPr>
        <p:txBody>
          <a:bodyPr wrap="square" lIns="0" tIns="0" rIns="0" bIns="0" rtlCol="0" anchor="ctr"/>
          <a:lstStyle/>
          <a:p>
            <a:pPr marL="0" indent="0">
              <a:buNone/>
            </a:pPr>
            <a:r>
              <a:rPr lang="en-US" sz="1050" dirty="0">
                <a:solidFill>
                  <a:srgbClr val="9FB3D1"/>
                </a:solidFill>
                <a:latin typeface="Calibri" pitchFamily="34" charset="0"/>
                <a:ea typeface="Calibri" pitchFamily="34" charset="-122"/>
                <a:cs typeface="Calibri" pitchFamily="34" charset="-120"/>
              </a:rPr>
              <a:t>xarajat</a:t>
            </a:r>
            <a:endParaRPr lang="en-US" sz="1050" dirty="0"/>
          </a:p>
        </p:txBody>
      </p:sp>
      <p:sp>
        <p:nvSpPr>
          <p:cNvPr id="59" name="Text 50"/>
          <p:cNvSpPr txBox="1"/>
          <p:nvPr/>
        </p:nvSpPr>
        <p:spPr>
          <a:xfrm>
            <a:off x="9966960" y="5276088"/>
            <a:ext cx="1463040" cy="502920"/>
          </a:xfrm>
          <a:prstGeom prst="rect">
            <a:avLst/>
          </a:prstGeom>
          <a:noFill/>
          <a:ln/>
        </p:spPr>
        <p:txBody>
          <a:bodyPr wrap="square" lIns="0" tIns="0" rIns="0" bIns="0" rtlCol="0" anchor="ctr"/>
          <a:lstStyle/>
          <a:p>
            <a:pPr marL="0" indent="0">
              <a:buNone/>
            </a:pPr>
            <a:r>
              <a:rPr lang="en-US" sz="2500" b="1" dirty="0">
                <a:solidFill>
                  <a:srgbClr val="5FD39A"/>
                </a:solidFill>
                <a:latin typeface="Calibri" pitchFamily="34" charset="0"/>
                <a:ea typeface="Calibri" pitchFamily="34" charset="-122"/>
                <a:cs typeface="Calibri" pitchFamily="34" charset="-120"/>
              </a:rPr>
              <a:t>$40</a:t>
            </a:r>
            <a:endParaRPr lang="en-US" sz="2500" dirty="0"/>
          </a:p>
        </p:txBody>
      </p:sp>
      <p:sp>
        <p:nvSpPr>
          <p:cNvPr id="60" name="Text 51"/>
          <p:cNvSpPr txBox="1"/>
          <p:nvPr/>
        </p:nvSpPr>
        <p:spPr>
          <a:xfrm>
            <a:off x="9966960" y="5788152"/>
            <a:ext cx="1463040" cy="274320"/>
          </a:xfrm>
          <a:prstGeom prst="rect">
            <a:avLst/>
          </a:prstGeom>
          <a:noFill/>
          <a:ln/>
        </p:spPr>
        <p:txBody>
          <a:bodyPr wrap="square" lIns="0" tIns="0" rIns="0" bIns="0" rtlCol="0" anchor="ctr"/>
          <a:lstStyle/>
          <a:p>
            <a:pPr marL="0" indent="0">
              <a:buNone/>
            </a:pPr>
            <a:r>
              <a:rPr lang="en-US" sz="1050" dirty="0">
                <a:solidFill>
                  <a:srgbClr val="9FB3D1"/>
                </a:solidFill>
                <a:latin typeface="Calibri" pitchFamily="34" charset="0"/>
                <a:ea typeface="Calibri" pitchFamily="34" charset="-122"/>
                <a:cs typeface="Calibri" pitchFamily="34" charset="-120"/>
              </a:rPr>
              <a:t>foyda</a:t>
            </a:r>
            <a:endParaRPr lang="en-US" sz="1050" dirty="0"/>
          </a:p>
        </p:txBody>
      </p:sp>
      <p:sp>
        <p:nvSpPr>
          <p:cNvPr id="61" name="Text 52"/>
          <p:cNvSpPr txBox="1"/>
          <p:nvPr/>
        </p:nvSpPr>
        <p:spPr>
          <a:xfrm>
            <a:off x="6858000" y="6016752"/>
            <a:ext cx="4663440" cy="256032"/>
          </a:xfrm>
          <a:prstGeom prst="rect">
            <a:avLst/>
          </a:prstGeom>
          <a:noFill/>
          <a:ln/>
        </p:spPr>
        <p:txBody>
          <a:bodyPr wrap="square" lIns="0" tIns="0" rIns="0" bIns="0" rtlCol="0" anchor="ctr"/>
          <a:lstStyle/>
          <a:p>
            <a:pPr marL="0" indent="0">
              <a:buNone/>
            </a:pPr>
            <a:r>
              <a:rPr lang="en-US" sz="950" i="1" dirty="0">
                <a:solidFill>
                  <a:srgbClr val="7F92B0"/>
                </a:solidFill>
                <a:latin typeface="Calibri" pitchFamily="34" charset="0"/>
                <a:ea typeface="Calibri" pitchFamily="34" charset="-122"/>
                <a:cs typeface="Calibri" pitchFamily="34" charset="-120"/>
              </a:rPr>
              <a:t>ijara $45 + Force $20 · xarajat: Force $14, amortizatsiya $7, servis $4</a:t>
            </a:r>
            <a:endParaRPr lang="en-US" sz="950" dirty="0"/>
          </a:p>
        </p:txBody>
      </p:sp>
      <p:sp>
        <p:nvSpPr>
          <p:cNvPr id="62" name="Text 53"/>
          <p:cNvSpPr txBox="1"/>
          <p:nvPr/>
        </p:nvSpPr>
        <p:spPr>
          <a:xfrm>
            <a:off x="548640" y="6419088"/>
            <a:ext cx="11064240" cy="256032"/>
          </a:xfrm>
          <a:prstGeom prst="rect">
            <a:avLst/>
          </a:prstGeom>
          <a:noFill/>
          <a:ln/>
        </p:spPr>
        <p:txBody>
          <a:bodyPr wrap="square" lIns="0" tIns="0" rIns="0" bIns="0" rtlCol="0" anchor="ctr"/>
          <a:lstStyle/>
          <a:p>
            <a:pPr marL="0" indent="0">
              <a:buNone/>
            </a:pPr>
            <a:r>
              <a:rPr lang="en-US" sz="1000" i="1" dirty="0">
                <a:solidFill>
                  <a:srgbClr val="5E6B80"/>
                </a:solidFill>
                <a:latin typeface="Calibri" pitchFamily="34" charset="0"/>
                <a:ea typeface="Calibri" pitchFamily="34" charset="-122"/>
                <a:cs typeface="Calibri" pitchFamily="34" charset="-120"/>
              </a:rPr>
              <a:t>Tannarx (100 dona): Band ≈ $48 (nRF52840 $5,49 · BMI270 $3,17 · MAX30208 $3,58 · MAX30102 $10,83) · Box ≈ $115 (ESP32-S3 $3,43 · SCD40 $16,40) · Force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07</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Maqsadlar va KPI</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Realistik reja: ikki fazali pilot (F1, F2), keyin 3 yilda respublika bo‘ylab kengayish.</a:t>
            </a:r>
            <a:endParaRPr lang="en-US" sz="1500" dirty="0"/>
          </a:p>
        </p:txBody>
      </p:sp>
      <p:sp>
        <p:nvSpPr>
          <p:cNvPr id="6" name="Shape 4"/>
          <p:cNvSpPr/>
          <p:nvPr/>
        </p:nvSpPr>
        <p:spPr>
          <a:xfrm>
            <a:off x="548640" y="2148840"/>
            <a:ext cx="11091672" cy="0"/>
          </a:xfrm>
          <a:prstGeom prst="line">
            <a:avLst/>
          </a:prstGeom>
          <a:noFill/>
          <a:ln w="25400">
            <a:solidFill>
              <a:srgbClr val="B8C4D6"/>
            </a:solidFill>
            <a:prstDash val="solid"/>
          </a:ln>
        </p:spPr>
        <p:txBody>
          <a:bodyPr/>
          <a:lstStyle/>
          <a:p>
            <a:endParaRPr lang="en-US"/>
          </a:p>
        </p:txBody>
      </p:sp>
      <p:sp>
        <p:nvSpPr>
          <p:cNvPr id="7" name="Shape 5"/>
          <p:cNvSpPr/>
          <p:nvPr/>
        </p:nvSpPr>
        <p:spPr>
          <a:xfrm>
            <a:off x="1723644" y="2020824"/>
            <a:ext cx="256032" cy="256032"/>
          </a:xfrm>
          <a:prstGeom prst="ellipse">
            <a:avLst/>
          </a:prstGeom>
          <a:solidFill>
            <a:srgbClr val="E0453A"/>
          </a:solidFill>
          <a:ln w="25400">
            <a:solidFill>
              <a:srgbClr val="FFFFFF"/>
            </a:solidFill>
            <a:prstDash val="solid"/>
          </a:ln>
        </p:spPr>
        <p:txBody>
          <a:bodyPr/>
          <a:lstStyle/>
          <a:p>
            <a:endParaRPr lang="en-US"/>
          </a:p>
        </p:txBody>
      </p:sp>
      <p:sp>
        <p:nvSpPr>
          <p:cNvPr id="8" name="Text 6"/>
          <p:cNvSpPr txBox="1"/>
          <p:nvPr/>
        </p:nvSpPr>
        <p:spPr>
          <a:xfrm>
            <a:off x="548640" y="1719072"/>
            <a:ext cx="2606040" cy="292608"/>
          </a:xfrm>
          <a:prstGeom prst="rect">
            <a:avLst/>
          </a:prstGeom>
          <a:noFill/>
          <a:ln/>
        </p:spPr>
        <p:txBody>
          <a:bodyPr wrap="square" lIns="0" tIns="0" rIns="0" bIns="0" rtlCol="0" anchor="ctr"/>
          <a:lstStyle/>
          <a:p>
            <a:pPr marL="0" indent="0" algn="ctr">
              <a:buNone/>
            </a:pPr>
            <a:r>
              <a:rPr lang="en-US" sz="2000" b="1" dirty="0">
                <a:solidFill>
                  <a:srgbClr val="E0453A"/>
                </a:solidFill>
                <a:latin typeface="Calibri" pitchFamily="34" charset="0"/>
                <a:ea typeface="Calibri" pitchFamily="34" charset="-122"/>
                <a:cs typeface="Calibri" pitchFamily="34" charset="-120"/>
              </a:rPr>
              <a:t>Hozir</a:t>
            </a:r>
            <a:endParaRPr lang="en-US" sz="2000" dirty="0"/>
          </a:p>
        </p:txBody>
      </p:sp>
      <p:sp>
        <p:nvSpPr>
          <p:cNvPr id="9" name="Shape 7"/>
          <p:cNvSpPr/>
          <p:nvPr/>
        </p:nvSpPr>
        <p:spPr>
          <a:xfrm>
            <a:off x="548640" y="2560320"/>
            <a:ext cx="2606040" cy="352044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0" name="Shape 8"/>
          <p:cNvSpPr/>
          <p:nvPr/>
        </p:nvSpPr>
        <p:spPr>
          <a:xfrm>
            <a:off x="777240" y="2816352"/>
            <a:ext cx="91440" cy="91440"/>
          </a:xfrm>
          <a:prstGeom prst="rect">
            <a:avLst/>
          </a:prstGeom>
          <a:solidFill>
            <a:srgbClr val="E0453A"/>
          </a:solidFill>
          <a:ln w="12700">
            <a:solidFill>
              <a:srgbClr val="E0453A"/>
            </a:solidFill>
            <a:prstDash val="solid"/>
          </a:ln>
        </p:spPr>
        <p:txBody>
          <a:bodyPr/>
          <a:lstStyle/>
          <a:p>
            <a:endParaRPr lang="en-US"/>
          </a:p>
        </p:txBody>
      </p:sp>
      <p:sp>
        <p:nvSpPr>
          <p:cNvPr id="11" name="Text 9"/>
          <p:cNvSpPr txBox="1"/>
          <p:nvPr/>
        </p:nvSpPr>
        <p:spPr>
          <a:xfrm>
            <a:off x="960120" y="2724912"/>
            <a:ext cx="2057400" cy="292608"/>
          </a:xfrm>
          <a:prstGeom prst="rect">
            <a:avLst/>
          </a:prstGeom>
          <a:noFill/>
          <a:ln/>
        </p:spPr>
        <p:txBody>
          <a:bodyPr wrap="square" lIns="0" tIns="0" rIns="0" bIns="0" rtlCol="0" anchor="ctr"/>
          <a:lstStyle/>
          <a:p>
            <a:pPr marL="0" indent="0">
              <a:buNone/>
            </a:pPr>
            <a:r>
              <a:rPr lang="en-US" sz="1300" b="1" dirty="0">
                <a:solidFill>
                  <a:srgbClr val="1A2233"/>
                </a:solidFill>
                <a:latin typeface="Calibri" pitchFamily="34" charset="0"/>
                <a:ea typeface="Calibri" pitchFamily="34" charset="-122"/>
                <a:cs typeface="Calibri" pitchFamily="34" charset="-120"/>
              </a:rPr>
              <a:t>MVP tayyor</a:t>
            </a:r>
            <a:endParaRPr lang="en-US" sz="1300" dirty="0"/>
          </a:p>
        </p:txBody>
      </p:sp>
      <p:sp>
        <p:nvSpPr>
          <p:cNvPr id="12" name="Text 10"/>
          <p:cNvSpPr txBox="1"/>
          <p:nvPr/>
        </p:nvSpPr>
        <p:spPr>
          <a:xfrm>
            <a:off x="777240" y="3154680"/>
            <a:ext cx="2194560" cy="2743200"/>
          </a:xfrm>
          <a:prstGeom prst="rect">
            <a:avLst/>
          </a:prstGeom>
          <a:noFill/>
          <a:ln/>
        </p:spPr>
        <p:txBody>
          <a:bodyPr wrap="square" lIns="0" tIns="0" rIns="0" bIns="0" rtlCol="0" anchor="t"/>
          <a:lstStyle/>
          <a:p>
            <a:pPr marL="0" indent="0">
              <a:spcAft>
                <a:spcPts val="500"/>
              </a:spcAft>
              <a:buNone/>
            </a:pPr>
            <a:r>
              <a:rPr lang="en-US" sz="1050" b="1" dirty="0">
                <a:solidFill>
                  <a:srgbClr val="E0453A"/>
                </a:solidFill>
                <a:latin typeface="Calibri" pitchFamily="34" charset="0"/>
                <a:ea typeface="Calibri" pitchFamily="34" charset="-122"/>
                <a:cs typeface="Calibri" pitchFamily="34" charset="-120"/>
              </a:rPr>
              <a:t>Holat</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Bemor va shifokor portali, AI risk-triaj prototipi, qurilmalar dizayni</a:t>
            </a:r>
            <a:endParaRPr lang="en-US" sz="1050" dirty="0"/>
          </a:p>
          <a:p>
            <a:pPr marL="0" indent="0">
              <a:spcAft>
                <a:spcPts val="500"/>
              </a:spcAft>
              <a:buNone/>
            </a:pPr>
            <a:r>
              <a:rPr lang="en-US" sz="1050" b="1" dirty="0">
                <a:solidFill>
                  <a:srgbClr val="E0453A"/>
                </a:solidFill>
                <a:latin typeface="Calibri" pitchFamily="34" charset="0"/>
                <a:ea typeface="Calibri" pitchFamily="34" charset="-122"/>
                <a:cs typeface="Calibri" pitchFamily="34" charset="-120"/>
              </a:rPr>
              <a:t>Keyingi qadam</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Band, Box va Force ishchi prototiplari</a:t>
            </a:r>
            <a:endParaRPr lang="en-US" sz="1050" dirty="0"/>
          </a:p>
        </p:txBody>
      </p:sp>
      <p:sp>
        <p:nvSpPr>
          <p:cNvPr id="13" name="Shape 11"/>
          <p:cNvSpPr/>
          <p:nvPr/>
        </p:nvSpPr>
        <p:spPr>
          <a:xfrm>
            <a:off x="4551883" y="2020824"/>
            <a:ext cx="256032" cy="256032"/>
          </a:xfrm>
          <a:prstGeom prst="ellipse">
            <a:avLst/>
          </a:prstGeom>
          <a:solidFill>
            <a:srgbClr val="D98A12"/>
          </a:solidFill>
          <a:ln w="25400">
            <a:solidFill>
              <a:srgbClr val="FFFFFF"/>
            </a:solidFill>
            <a:prstDash val="solid"/>
          </a:ln>
        </p:spPr>
        <p:txBody>
          <a:bodyPr/>
          <a:lstStyle/>
          <a:p>
            <a:endParaRPr lang="en-US"/>
          </a:p>
        </p:txBody>
      </p:sp>
      <p:sp>
        <p:nvSpPr>
          <p:cNvPr id="14" name="Text 12"/>
          <p:cNvSpPr txBox="1"/>
          <p:nvPr/>
        </p:nvSpPr>
        <p:spPr>
          <a:xfrm>
            <a:off x="3376879" y="1719072"/>
            <a:ext cx="2606040" cy="292608"/>
          </a:xfrm>
          <a:prstGeom prst="rect">
            <a:avLst/>
          </a:prstGeom>
          <a:noFill/>
          <a:ln/>
        </p:spPr>
        <p:txBody>
          <a:bodyPr wrap="square" lIns="0" tIns="0" rIns="0" bIns="0" rtlCol="0" anchor="ctr"/>
          <a:lstStyle/>
          <a:p>
            <a:pPr marL="0" indent="0" algn="ctr">
              <a:buNone/>
            </a:pPr>
            <a:r>
              <a:rPr lang="en-US" sz="2000" b="1" dirty="0">
                <a:solidFill>
                  <a:srgbClr val="D98A12"/>
                </a:solidFill>
                <a:latin typeface="Calibri" pitchFamily="34" charset="0"/>
                <a:ea typeface="Calibri" pitchFamily="34" charset="-122"/>
                <a:cs typeface="Calibri" pitchFamily="34" charset="-120"/>
              </a:rPr>
              <a:t>F1</a:t>
            </a:r>
            <a:r>
              <a:rPr lang="en-US" sz="1200" dirty="0">
                <a:solidFill>
                  <a:srgbClr val="5E6B80"/>
                </a:solidFill>
                <a:latin typeface="Calibri" pitchFamily="34" charset="0"/>
                <a:ea typeface="Calibri" pitchFamily="34" charset="-122"/>
                <a:cs typeface="Calibri" pitchFamily="34" charset="-120"/>
              </a:rPr>
              <a:t>   1–6 oy</a:t>
            </a:r>
            <a:endParaRPr lang="en-US" sz="2000" dirty="0"/>
          </a:p>
        </p:txBody>
      </p:sp>
      <p:sp>
        <p:nvSpPr>
          <p:cNvPr id="15" name="Shape 13"/>
          <p:cNvSpPr/>
          <p:nvPr/>
        </p:nvSpPr>
        <p:spPr>
          <a:xfrm>
            <a:off x="3376879" y="2560320"/>
            <a:ext cx="2606040" cy="352044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6" name="Shape 14"/>
          <p:cNvSpPr/>
          <p:nvPr/>
        </p:nvSpPr>
        <p:spPr>
          <a:xfrm>
            <a:off x="3605479" y="2816352"/>
            <a:ext cx="91440" cy="91440"/>
          </a:xfrm>
          <a:prstGeom prst="rect">
            <a:avLst/>
          </a:prstGeom>
          <a:solidFill>
            <a:srgbClr val="D98A12"/>
          </a:solidFill>
          <a:ln w="12700">
            <a:solidFill>
              <a:srgbClr val="D98A12"/>
            </a:solidFill>
            <a:prstDash val="solid"/>
          </a:ln>
        </p:spPr>
        <p:txBody>
          <a:bodyPr/>
          <a:lstStyle/>
          <a:p>
            <a:endParaRPr lang="en-US"/>
          </a:p>
        </p:txBody>
      </p:sp>
      <p:sp>
        <p:nvSpPr>
          <p:cNvPr id="17" name="Text 15"/>
          <p:cNvSpPr txBox="1"/>
          <p:nvPr/>
        </p:nvSpPr>
        <p:spPr>
          <a:xfrm>
            <a:off x="3788359" y="2724912"/>
            <a:ext cx="2057400" cy="292608"/>
          </a:xfrm>
          <a:prstGeom prst="rect">
            <a:avLst/>
          </a:prstGeom>
          <a:noFill/>
          <a:ln/>
        </p:spPr>
        <p:txBody>
          <a:bodyPr wrap="square" lIns="0" tIns="0" rIns="0" bIns="0" rtlCol="0" anchor="ctr"/>
          <a:lstStyle/>
          <a:p>
            <a:pPr marL="0" indent="0">
              <a:buNone/>
            </a:pPr>
            <a:r>
              <a:rPr lang="en-US" sz="1300" b="1" dirty="0">
                <a:solidFill>
                  <a:srgbClr val="1A2233"/>
                </a:solidFill>
                <a:latin typeface="Calibri" pitchFamily="34" charset="0"/>
                <a:ea typeface="Calibri" pitchFamily="34" charset="-122"/>
                <a:cs typeface="Calibri" pitchFamily="34" charset="-120"/>
              </a:rPr>
              <a:t>Texnik pilot · Namangan</a:t>
            </a:r>
            <a:endParaRPr lang="en-US" sz="1300" dirty="0"/>
          </a:p>
        </p:txBody>
      </p:sp>
      <p:sp>
        <p:nvSpPr>
          <p:cNvPr id="18" name="Text 16"/>
          <p:cNvSpPr txBox="1"/>
          <p:nvPr/>
        </p:nvSpPr>
        <p:spPr>
          <a:xfrm>
            <a:off x="3605479" y="3154680"/>
            <a:ext cx="2194560" cy="2194560"/>
          </a:xfrm>
          <a:prstGeom prst="rect">
            <a:avLst/>
          </a:prstGeom>
          <a:noFill/>
          <a:ln/>
        </p:spPr>
        <p:txBody>
          <a:bodyPr wrap="square" lIns="0" tIns="0" rIns="0" bIns="0" rtlCol="0" anchor="t"/>
          <a:lstStyle/>
          <a:p>
            <a:pPr marL="0" indent="0">
              <a:spcAft>
                <a:spcPts val="500"/>
              </a:spcAft>
              <a:buNone/>
            </a:pPr>
            <a:r>
              <a:rPr lang="en-US" sz="1050" b="1" dirty="0">
                <a:solidFill>
                  <a:srgbClr val="D98A12"/>
                </a:solidFill>
                <a:latin typeface="Calibri" pitchFamily="34" charset="0"/>
                <a:ea typeface="Calibri" pitchFamily="34" charset="-122"/>
                <a:cs typeface="Calibri" pitchFamily="34" charset="-120"/>
              </a:rPr>
              <a:t>Ko‘lam</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1 shifoxona · 30 Band · 10 Box + Force · ~30 bemor</a:t>
            </a:r>
            <a:endParaRPr lang="en-US" sz="1050" dirty="0"/>
          </a:p>
          <a:p>
            <a:pPr marL="0" indent="0">
              <a:spcAft>
                <a:spcPts val="500"/>
              </a:spcAft>
              <a:buNone/>
            </a:pPr>
            <a:r>
              <a:rPr lang="en-US" sz="1050" b="1" dirty="0">
                <a:solidFill>
                  <a:srgbClr val="D98A12"/>
                </a:solidFill>
                <a:latin typeface="Calibri" pitchFamily="34" charset="0"/>
                <a:ea typeface="Calibri" pitchFamily="34" charset="-122"/>
                <a:cs typeface="Calibri" pitchFamily="34" charset="-120"/>
              </a:rPr>
              <a:t>KPI</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O‘lchovlar klinik asboblarga mos · ma’lumot yetkazish ≥95% · ogohlantirishga javob vaqti</a:t>
            </a:r>
            <a:endParaRPr lang="en-US" sz="1050" dirty="0"/>
          </a:p>
          <a:p>
            <a:pPr marL="0" indent="0">
              <a:spcAft>
                <a:spcPts val="500"/>
              </a:spcAft>
              <a:buNone/>
            </a:pPr>
            <a:r>
              <a:rPr lang="en-US" sz="1050" b="1" dirty="0">
                <a:solidFill>
                  <a:srgbClr val="D98A12"/>
                </a:solidFill>
                <a:latin typeface="Calibri" pitchFamily="34" charset="0"/>
                <a:ea typeface="Calibri" pitchFamily="34" charset="-122"/>
                <a:cs typeface="Calibri" pitchFamily="34" charset="-120"/>
              </a:rPr>
              <a:t>Model</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Bepul pilot, bemor roziligi bilan</a:t>
            </a:r>
            <a:endParaRPr lang="en-US" sz="1050" dirty="0"/>
          </a:p>
        </p:txBody>
      </p:sp>
      <p:sp>
        <p:nvSpPr>
          <p:cNvPr id="19" name="Shape 17"/>
          <p:cNvSpPr/>
          <p:nvPr/>
        </p:nvSpPr>
        <p:spPr>
          <a:xfrm>
            <a:off x="3559759" y="5422392"/>
            <a:ext cx="2240280" cy="457200"/>
          </a:xfrm>
          <a:prstGeom prst="roundRect">
            <a:avLst>
              <a:gd name="adj" fmla="val 16000"/>
            </a:avLst>
          </a:prstGeom>
          <a:solidFill>
            <a:srgbClr val="E8EEF7"/>
          </a:solidFill>
          <a:ln w="12700">
            <a:solidFill>
              <a:srgbClr val="E8EEF7"/>
            </a:solidFill>
            <a:prstDash val="solid"/>
          </a:ln>
        </p:spPr>
        <p:txBody>
          <a:bodyPr/>
          <a:lstStyle/>
          <a:p>
            <a:endParaRPr lang="en-US"/>
          </a:p>
        </p:txBody>
      </p:sp>
      <p:sp>
        <p:nvSpPr>
          <p:cNvPr id="20" name="Text 18"/>
          <p:cNvSpPr txBox="1"/>
          <p:nvPr/>
        </p:nvSpPr>
        <p:spPr>
          <a:xfrm>
            <a:off x="3559759" y="5422392"/>
            <a:ext cx="2240280" cy="457200"/>
          </a:xfrm>
          <a:prstGeom prst="rect">
            <a:avLst/>
          </a:prstGeom>
          <a:noFill/>
          <a:ln/>
        </p:spPr>
        <p:txBody>
          <a:bodyPr wrap="square" lIns="0" tIns="0" rIns="0" bIns="0" rtlCol="0" anchor="ctr"/>
          <a:lstStyle/>
          <a:p>
            <a:pPr marL="0" indent="0" algn="ctr">
              <a:buNone/>
            </a:pPr>
            <a:r>
              <a:rPr lang="en-US" sz="1300" b="1" dirty="0">
                <a:solidFill>
                  <a:srgbClr val="16325C"/>
                </a:solidFill>
                <a:latin typeface="Calibri" pitchFamily="34" charset="0"/>
                <a:ea typeface="Calibri" pitchFamily="34" charset="-122"/>
                <a:cs typeface="Calibri" pitchFamily="34" charset="-120"/>
              </a:rPr>
              <a:t>Byudjet ≈ $3,5 ming</a:t>
            </a:r>
            <a:endParaRPr lang="en-US" sz="1300" dirty="0"/>
          </a:p>
        </p:txBody>
      </p:sp>
      <p:sp>
        <p:nvSpPr>
          <p:cNvPr id="21" name="Shape 19"/>
          <p:cNvSpPr/>
          <p:nvPr/>
        </p:nvSpPr>
        <p:spPr>
          <a:xfrm>
            <a:off x="7380122" y="2020824"/>
            <a:ext cx="256032" cy="256032"/>
          </a:xfrm>
          <a:prstGeom prst="ellipse">
            <a:avLst/>
          </a:prstGeom>
          <a:solidFill>
            <a:srgbClr val="3D6FB6"/>
          </a:solidFill>
          <a:ln w="25400">
            <a:solidFill>
              <a:srgbClr val="FFFFFF"/>
            </a:solidFill>
            <a:prstDash val="solid"/>
          </a:ln>
        </p:spPr>
        <p:txBody>
          <a:bodyPr/>
          <a:lstStyle/>
          <a:p>
            <a:endParaRPr lang="en-US"/>
          </a:p>
        </p:txBody>
      </p:sp>
      <p:sp>
        <p:nvSpPr>
          <p:cNvPr id="22" name="Text 20"/>
          <p:cNvSpPr txBox="1"/>
          <p:nvPr/>
        </p:nvSpPr>
        <p:spPr>
          <a:xfrm>
            <a:off x="6205118" y="1719072"/>
            <a:ext cx="2606040" cy="292608"/>
          </a:xfrm>
          <a:prstGeom prst="rect">
            <a:avLst/>
          </a:prstGeom>
          <a:noFill/>
          <a:ln/>
        </p:spPr>
        <p:txBody>
          <a:bodyPr wrap="square" lIns="0" tIns="0" rIns="0" bIns="0" rtlCol="0" anchor="ctr"/>
          <a:lstStyle/>
          <a:p>
            <a:pPr marL="0" indent="0" algn="ctr">
              <a:buNone/>
            </a:pPr>
            <a:r>
              <a:rPr lang="en-US" sz="2000" b="1" dirty="0">
                <a:solidFill>
                  <a:srgbClr val="3D6FB6"/>
                </a:solidFill>
                <a:latin typeface="Calibri" pitchFamily="34" charset="0"/>
                <a:ea typeface="Calibri" pitchFamily="34" charset="-122"/>
                <a:cs typeface="Calibri" pitchFamily="34" charset="-120"/>
              </a:rPr>
              <a:t>F2</a:t>
            </a:r>
            <a:r>
              <a:rPr lang="en-US" sz="1200" dirty="0">
                <a:solidFill>
                  <a:srgbClr val="5E6B80"/>
                </a:solidFill>
                <a:latin typeface="Calibri" pitchFamily="34" charset="0"/>
                <a:ea typeface="Calibri" pitchFamily="34" charset="-122"/>
                <a:cs typeface="Calibri" pitchFamily="34" charset="-120"/>
              </a:rPr>
              <a:t>   7–12 oy</a:t>
            </a:r>
            <a:endParaRPr lang="en-US" sz="2000" dirty="0"/>
          </a:p>
        </p:txBody>
      </p:sp>
      <p:sp>
        <p:nvSpPr>
          <p:cNvPr id="23" name="Shape 21"/>
          <p:cNvSpPr/>
          <p:nvPr/>
        </p:nvSpPr>
        <p:spPr>
          <a:xfrm>
            <a:off x="6205118" y="2560320"/>
            <a:ext cx="2606040" cy="352044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4" name="Shape 22"/>
          <p:cNvSpPr/>
          <p:nvPr/>
        </p:nvSpPr>
        <p:spPr>
          <a:xfrm>
            <a:off x="6433718" y="2816352"/>
            <a:ext cx="91440" cy="91440"/>
          </a:xfrm>
          <a:prstGeom prst="rect">
            <a:avLst/>
          </a:prstGeom>
          <a:solidFill>
            <a:srgbClr val="3D6FB6"/>
          </a:solidFill>
          <a:ln w="12700">
            <a:solidFill>
              <a:srgbClr val="3D6FB6"/>
            </a:solidFill>
            <a:prstDash val="solid"/>
          </a:ln>
        </p:spPr>
        <p:txBody>
          <a:bodyPr/>
          <a:lstStyle/>
          <a:p>
            <a:endParaRPr lang="en-US"/>
          </a:p>
        </p:txBody>
      </p:sp>
      <p:sp>
        <p:nvSpPr>
          <p:cNvPr id="25" name="Text 23"/>
          <p:cNvSpPr txBox="1"/>
          <p:nvPr/>
        </p:nvSpPr>
        <p:spPr>
          <a:xfrm>
            <a:off x="6616598" y="2724912"/>
            <a:ext cx="2057400" cy="292608"/>
          </a:xfrm>
          <a:prstGeom prst="rect">
            <a:avLst/>
          </a:prstGeom>
          <a:noFill/>
          <a:ln/>
        </p:spPr>
        <p:txBody>
          <a:bodyPr wrap="square" lIns="0" tIns="0" rIns="0" bIns="0" rtlCol="0" anchor="ctr"/>
          <a:lstStyle/>
          <a:p>
            <a:pPr marL="0" indent="0">
              <a:buNone/>
            </a:pPr>
            <a:r>
              <a:rPr lang="en-US" sz="1300" b="1" dirty="0">
                <a:solidFill>
                  <a:srgbClr val="1A2233"/>
                </a:solidFill>
                <a:latin typeface="Calibri" pitchFamily="34" charset="0"/>
                <a:ea typeface="Calibri" pitchFamily="34" charset="-122"/>
                <a:cs typeface="Calibri" pitchFamily="34" charset="-120"/>
              </a:rPr>
              <a:t>Klinik pilot · pullik shartnoma</a:t>
            </a:r>
            <a:endParaRPr lang="en-US" sz="1300" dirty="0"/>
          </a:p>
        </p:txBody>
      </p:sp>
      <p:sp>
        <p:nvSpPr>
          <p:cNvPr id="26" name="Text 24"/>
          <p:cNvSpPr txBox="1"/>
          <p:nvPr/>
        </p:nvSpPr>
        <p:spPr>
          <a:xfrm>
            <a:off x="6433718" y="3154680"/>
            <a:ext cx="2194560" cy="2194560"/>
          </a:xfrm>
          <a:prstGeom prst="rect">
            <a:avLst/>
          </a:prstGeom>
          <a:noFill/>
          <a:ln/>
        </p:spPr>
        <p:txBody>
          <a:bodyPr wrap="square" lIns="0" tIns="0" rIns="0" bIns="0" rtlCol="0" anchor="t"/>
          <a:lstStyle/>
          <a:p>
            <a:pPr marL="0" indent="0">
              <a:spcAft>
                <a:spcPts val="500"/>
              </a:spcAft>
              <a:buNone/>
            </a:pPr>
            <a:r>
              <a:rPr lang="en-US" sz="1050" b="1" dirty="0">
                <a:solidFill>
                  <a:srgbClr val="3D6FB6"/>
                </a:solidFill>
                <a:latin typeface="Calibri" pitchFamily="34" charset="0"/>
                <a:ea typeface="Calibri" pitchFamily="34" charset="-122"/>
                <a:cs typeface="Calibri" pitchFamily="34" charset="-120"/>
              </a:rPr>
              <a:t>Ko‘lam</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5 shifoxona · 100 Band · 40 Box + Force · ~250 bemor</a:t>
            </a:r>
            <a:endParaRPr lang="en-US" sz="1050" dirty="0"/>
          </a:p>
          <a:p>
            <a:pPr marL="0" indent="0">
              <a:spcAft>
                <a:spcPts val="500"/>
              </a:spcAft>
              <a:buNone/>
            </a:pPr>
            <a:r>
              <a:rPr lang="en-US" sz="1050" b="1" dirty="0">
                <a:solidFill>
                  <a:srgbClr val="3D6FB6"/>
                </a:solidFill>
                <a:latin typeface="Calibri" pitchFamily="34" charset="0"/>
                <a:ea typeface="Calibri" pitchFamily="34" charset="-122"/>
                <a:cs typeface="Calibri" pitchFamily="34" charset="-120"/>
              </a:rPr>
              <a:t>KPI</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Tibbiy buyum sifatida ro‘yxatdan o‘tish · 5 ta shartnoma · DMED integratsiyasiga tayyorlik</a:t>
            </a:r>
            <a:endParaRPr lang="en-US" sz="1050" dirty="0"/>
          </a:p>
          <a:p>
            <a:pPr marL="0" indent="0">
              <a:spcAft>
                <a:spcPts val="500"/>
              </a:spcAft>
              <a:buNone/>
            </a:pPr>
            <a:r>
              <a:rPr lang="en-US" sz="1050" b="1" dirty="0">
                <a:solidFill>
                  <a:srgbClr val="3D6FB6"/>
                </a:solidFill>
                <a:latin typeface="Calibri" pitchFamily="34" charset="0"/>
                <a:ea typeface="Calibri" pitchFamily="34" charset="-122"/>
                <a:cs typeface="Calibri" pitchFamily="34" charset="-120"/>
              </a:rPr>
              <a:t>Daromad</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 $10 ming</a:t>
            </a:r>
            <a:endParaRPr lang="en-US" sz="1050" dirty="0"/>
          </a:p>
        </p:txBody>
      </p:sp>
      <p:sp>
        <p:nvSpPr>
          <p:cNvPr id="27" name="Shape 25"/>
          <p:cNvSpPr/>
          <p:nvPr/>
        </p:nvSpPr>
        <p:spPr>
          <a:xfrm>
            <a:off x="6387998" y="5422392"/>
            <a:ext cx="2240280" cy="457200"/>
          </a:xfrm>
          <a:prstGeom prst="roundRect">
            <a:avLst>
              <a:gd name="adj" fmla="val 16000"/>
            </a:avLst>
          </a:prstGeom>
          <a:solidFill>
            <a:srgbClr val="E8EEF7"/>
          </a:solidFill>
          <a:ln w="12700">
            <a:solidFill>
              <a:srgbClr val="E8EEF7"/>
            </a:solidFill>
            <a:prstDash val="solid"/>
          </a:ln>
        </p:spPr>
        <p:txBody>
          <a:bodyPr/>
          <a:lstStyle/>
          <a:p>
            <a:endParaRPr lang="en-US"/>
          </a:p>
        </p:txBody>
      </p:sp>
      <p:sp>
        <p:nvSpPr>
          <p:cNvPr id="28" name="Text 26"/>
          <p:cNvSpPr txBox="1"/>
          <p:nvPr/>
        </p:nvSpPr>
        <p:spPr>
          <a:xfrm>
            <a:off x="6387998" y="5422392"/>
            <a:ext cx="2240280" cy="457200"/>
          </a:xfrm>
          <a:prstGeom prst="rect">
            <a:avLst/>
          </a:prstGeom>
          <a:noFill/>
          <a:ln/>
        </p:spPr>
        <p:txBody>
          <a:bodyPr wrap="square" lIns="0" tIns="0" rIns="0" bIns="0" rtlCol="0" anchor="ctr"/>
          <a:lstStyle/>
          <a:p>
            <a:pPr marL="0" indent="0" algn="ctr">
              <a:buNone/>
            </a:pPr>
            <a:r>
              <a:rPr lang="en-US" sz="1300" b="1" dirty="0">
                <a:solidFill>
                  <a:srgbClr val="16325C"/>
                </a:solidFill>
                <a:latin typeface="Calibri" pitchFamily="34" charset="0"/>
                <a:ea typeface="Calibri" pitchFamily="34" charset="-122"/>
                <a:cs typeface="Calibri" pitchFamily="34" charset="-120"/>
              </a:rPr>
              <a:t>Byudjet ≈ $8 ming</a:t>
            </a:r>
            <a:endParaRPr lang="en-US" sz="1300" dirty="0"/>
          </a:p>
        </p:txBody>
      </p:sp>
      <p:sp>
        <p:nvSpPr>
          <p:cNvPr id="29" name="Shape 27"/>
          <p:cNvSpPr/>
          <p:nvPr/>
        </p:nvSpPr>
        <p:spPr>
          <a:xfrm>
            <a:off x="10208362" y="2020824"/>
            <a:ext cx="256032" cy="256032"/>
          </a:xfrm>
          <a:prstGeom prst="ellipse">
            <a:avLst/>
          </a:prstGeom>
          <a:solidFill>
            <a:srgbClr val="2E9D6B"/>
          </a:solidFill>
          <a:ln w="25400">
            <a:solidFill>
              <a:srgbClr val="FFFFFF"/>
            </a:solidFill>
            <a:prstDash val="solid"/>
          </a:ln>
        </p:spPr>
        <p:txBody>
          <a:bodyPr/>
          <a:lstStyle/>
          <a:p>
            <a:endParaRPr lang="en-US"/>
          </a:p>
        </p:txBody>
      </p:sp>
      <p:sp>
        <p:nvSpPr>
          <p:cNvPr id="30" name="Text 28"/>
          <p:cNvSpPr txBox="1"/>
          <p:nvPr/>
        </p:nvSpPr>
        <p:spPr>
          <a:xfrm>
            <a:off x="9033358" y="1719072"/>
            <a:ext cx="2606040" cy="292608"/>
          </a:xfrm>
          <a:prstGeom prst="rect">
            <a:avLst/>
          </a:prstGeom>
          <a:noFill/>
          <a:ln/>
        </p:spPr>
        <p:txBody>
          <a:bodyPr wrap="square" lIns="0" tIns="0" rIns="0" bIns="0" rtlCol="0" anchor="ctr"/>
          <a:lstStyle/>
          <a:p>
            <a:pPr marL="0" indent="0" algn="ctr">
              <a:buNone/>
            </a:pPr>
            <a:r>
              <a:rPr lang="en-US" sz="2000" b="1" dirty="0">
                <a:solidFill>
                  <a:srgbClr val="2E9D6B"/>
                </a:solidFill>
                <a:latin typeface="Calibri" pitchFamily="34" charset="0"/>
                <a:ea typeface="Calibri" pitchFamily="34" charset="-122"/>
                <a:cs typeface="Calibri" pitchFamily="34" charset="-120"/>
              </a:rPr>
              <a:t>3 yil</a:t>
            </a:r>
            <a:endParaRPr lang="en-US" sz="2000" dirty="0"/>
          </a:p>
        </p:txBody>
      </p:sp>
      <p:sp>
        <p:nvSpPr>
          <p:cNvPr id="31" name="Shape 29"/>
          <p:cNvSpPr/>
          <p:nvPr/>
        </p:nvSpPr>
        <p:spPr>
          <a:xfrm>
            <a:off x="9033358" y="2560320"/>
            <a:ext cx="2606040" cy="352044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32" name="Shape 30"/>
          <p:cNvSpPr/>
          <p:nvPr/>
        </p:nvSpPr>
        <p:spPr>
          <a:xfrm>
            <a:off x="9261958" y="2816352"/>
            <a:ext cx="91440" cy="91440"/>
          </a:xfrm>
          <a:prstGeom prst="rect">
            <a:avLst/>
          </a:prstGeom>
          <a:solidFill>
            <a:srgbClr val="2E9D6B"/>
          </a:solidFill>
          <a:ln w="12700">
            <a:solidFill>
              <a:srgbClr val="2E9D6B"/>
            </a:solidFill>
            <a:prstDash val="solid"/>
          </a:ln>
        </p:spPr>
        <p:txBody>
          <a:bodyPr/>
          <a:lstStyle/>
          <a:p>
            <a:endParaRPr lang="en-US"/>
          </a:p>
        </p:txBody>
      </p:sp>
      <p:sp>
        <p:nvSpPr>
          <p:cNvPr id="33" name="Text 31"/>
          <p:cNvSpPr txBox="1"/>
          <p:nvPr/>
        </p:nvSpPr>
        <p:spPr>
          <a:xfrm>
            <a:off x="9444838" y="2724912"/>
            <a:ext cx="2057400" cy="292608"/>
          </a:xfrm>
          <a:prstGeom prst="rect">
            <a:avLst/>
          </a:prstGeom>
          <a:noFill/>
          <a:ln/>
        </p:spPr>
        <p:txBody>
          <a:bodyPr wrap="square" lIns="0" tIns="0" rIns="0" bIns="0" rtlCol="0" anchor="ctr"/>
          <a:lstStyle/>
          <a:p>
            <a:pPr marL="0" indent="0">
              <a:buNone/>
            </a:pPr>
            <a:r>
              <a:rPr lang="en-US" sz="1300" b="1" dirty="0">
                <a:solidFill>
                  <a:srgbClr val="1A2233"/>
                </a:solidFill>
                <a:latin typeface="Calibri" pitchFamily="34" charset="0"/>
                <a:ea typeface="Calibri" pitchFamily="34" charset="-122"/>
                <a:cs typeface="Calibri" pitchFamily="34" charset="-120"/>
              </a:rPr>
              <a:t>Respublika bo‘ylab</a:t>
            </a:r>
            <a:endParaRPr lang="en-US" sz="1300" dirty="0"/>
          </a:p>
        </p:txBody>
      </p:sp>
      <p:sp>
        <p:nvSpPr>
          <p:cNvPr id="34" name="Text 32"/>
          <p:cNvSpPr txBox="1"/>
          <p:nvPr/>
        </p:nvSpPr>
        <p:spPr>
          <a:xfrm>
            <a:off x="9261958" y="3154680"/>
            <a:ext cx="2194560" cy="2743200"/>
          </a:xfrm>
          <a:prstGeom prst="rect">
            <a:avLst/>
          </a:prstGeom>
          <a:noFill/>
          <a:ln/>
        </p:spPr>
        <p:txBody>
          <a:bodyPr wrap="square" lIns="0" tIns="0" rIns="0" bIns="0" rtlCol="0" anchor="t"/>
          <a:lstStyle/>
          <a:p>
            <a:pPr marL="0" indent="0">
              <a:spcAft>
                <a:spcPts val="500"/>
              </a:spcAft>
              <a:buNone/>
            </a:pPr>
            <a:r>
              <a:rPr lang="en-US" sz="1050" b="1" dirty="0">
                <a:solidFill>
                  <a:srgbClr val="2E9D6B"/>
                </a:solidFill>
                <a:latin typeface="Calibri" pitchFamily="34" charset="0"/>
                <a:ea typeface="Calibri" pitchFamily="34" charset="-122"/>
                <a:cs typeface="Calibri" pitchFamily="34" charset="-120"/>
              </a:rPr>
              <a:t>Ko‘lam</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50 shifoxona · 1 000 Band · 400 Box · ~8 000 bemor/yil</a:t>
            </a:r>
            <a:endParaRPr lang="en-US" sz="1050" dirty="0"/>
          </a:p>
          <a:p>
            <a:pPr marL="0" indent="0">
              <a:spcAft>
                <a:spcPts val="500"/>
              </a:spcAft>
              <a:buNone/>
            </a:pPr>
            <a:r>
              <a:rPr lang="en-US" sz="1050" b="1" dirty="0">
                <a:solidFill>
                  <a:srgbClr val="2E9D6B"/>
                </a:solidFill>
                <a:latin typeface="Calibri" pitchFamily="34" charset="0"/>
                <a:ea typeface="Calibri" pitchFamily="34" charset="-122"/>
                <a:cs typeface="Calibri" pitchFamily="34" charset="-120"/>
              </a:rPr>
              <a:t>KPI</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Sug‘urta va davlat xaridi · elektron tibbiy karta bilan integratsiya</a:t>
            </a:r>
            <a:endParaRPr lang="en-US" sz="1050" dirty="0"/>
          </a:p>
          <a:p>
            <a:pPr marL="0" indent="0">
              <a:spcAft>
                <a:spcPts val="500"/>
              </a:spcAft>
              <a:buNone/>
            </a:pPr>
            <a:r>
              <a:rPr lang="en-US" sz="1050" b="1" dirty="0">
                <a:solidFill>
                  <a:srgbClr val="2E9D6B"/>
                </a:solidFill>
                <a:latin typeface="Calibri" pitchFamily="34" charset="0"/>
                <a:ea typeface="Calibri" pitchFamily="34" charset="-122"/>
                <a:cs typeface="Calibri" pitchFamily="34" charset="-120"/>
              </a:rPr>
              <a:t>Daromad</a:t>
            </a:r>
            <a:endParaRPr lang="en-US" sz="1050" dirty="0"/>
          </a:p>
          <a:p>
            <a:pPr marL="0" indent="0">
              <a:spcAft>
                <a:spcPts val="500"/>
              </a:spcAft>
              <a:buNone/>
            </a:pPr>
            <a:r>
              <a:rPr lang="en-US" sz="1150" dirty="0">
                <a:solidFill>
                  <a:srgbClr val="1A2233"/>
                </a:solidFill>
                <a:latin typeface="Calibri" pitchFamily="34" charset="0"/>
                <a:ea typeface="Calibri" pitchFamily="34" charset="-122"/>
                <a:cs typeface="Calibri" pitchFamily="34" charset="-120"/>
              </a:rPr>
              <a:t>≈ $330 ming/yil</a:t>
            </a:r>
            <a:endParaRPr lang="en-US" sz="1050" dirty="0"/>
          </a:p>
        </p:txBody>
      </p:sp>
      <p:sp>
        <p:nvSpPr>
          <p:cNvPr id="35" name="Text 33"/>
          <p:cNvSpPr txBox="1"/>
          <p:nvPr/>
        </p:nvSpPr>
        <p:spPr>
          <a:xfrm>
            <a:off x="548640" y="6419088"/>
            <a:ext cx="11064240" cy="256032"/>
          </a:xfrm>
          <a:prstGeom prst="rect">
            <a:avLst/>
          </a:prstGeom>
          <a:noFill/>
          <a:ln/>
        </p:spPr>
        <p:txBody>
          <a:bodyPr wrap="square" lIns="0" tIns="0" rIns="0" bIns="0" rtlCol="0" anchor="ctr"/>
          <a:lstStyle/>
          <a:p>
            <a:pPr marL="0" indent="0">
              <a:buNone/>
            </a:pPr>
            <a:r>
              <a:rPr lang="en-US" sz="1000" i="1" dirty="0">
                <a:solidFill>
                  <a:srgbClr val="5E6B80"/>
                </a:solidFill>
                <a:latin typeface="Calibri" pitchFamily="34" charset="0"/>
                <a:ea typeface="Calibri" pitchFamily="34" charset="-122"/>
                <a:cs typeface="Calibri" pitchFamily="34" charset="-120"/>
              </a:rPr>
              <a:t>F1: 30 Band × $48 + 10 Box × $115 + 10 Force × $14 + server + sinovlar · F2: +70 Band, +30 Box/Force · o‘rtacha 1 bemor ≈ $41 (uy va markaz aralash)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3657600" cy="274320"/>
          </a:xfrm>
          <a:prstGeom prst="rect">
            <a:avLst/>
          </a:prstGeom>
          <a:noFill/>
          <a:ln/>
        </p:spPr>
        <p:txBody>
          <a:bodyPr wrap="square" lIns="0" tIns="0" rIns="0" bIns="0" rtlCol="0" anchor="ctr"/>
          <a:lstStyle/>
          <a:p>
            <a:pPr marL="0" indent="0">
              <a:buNone/>
            </a:pPr>
            <a:r>
              <a:rPr lang="en-US" sz="1100" b="1" kern="0" spc="100" dirty="0">
                <a:solidFill>
                  <a:srgbClr val="16325C"/>
                </a:solidFill>
                <a:latin typeface="Calibri" pitchFamily="34" charset="0"/>
                <a:ea typeface="Calibri" pitchFamily="34" charset="-122"/>
                <a:cs typeface="Calibri" pitchFamily="34" charset="-120"/>
              </a:rPr>
              <a:t>MIRA</a:t>
            </a:r>
            <a:r>
              <a:rPr lang="en-US" sz="1100" b="1" kern="0" spc="100" dirty="0">
                <a:solidFill>
                  <a:srgbClr val="E0453A"/>
                </a:solidFill>
                <a:latin typeface="Calibri" pitchFamily="34" charset="0"/>
                <a:ea typeface="Calibri" pitchFamily="34" charset="-122"/>
                <a:cs typeface="Calibri" pitchFamily="34" charset="-120"/>
              </a:rPr>
              <a:t>+</a:t>
            </a:r>
            <a:r>
              <a:rPr lang="en-US" sz="1100" kern="0" spc="100" dirty="0">
                <a:solidFill>
                  <a:srgbClr val="5E6B80"/>
                </a:solidFill>
                <a:latin typeface="Calibri" pitchFamily="34" charset="0"/>
                <a:ea typeface="Calibri" pitchFamily="34" charset="-122"/>
                <a:cs typeface="Calibri" pitchFamily="34" charset="-120"/>
              </a:rPr>
              <a:t>   NamDTU</a:t>
            </a:r>
            <a:endParaRPr lang="en-US" sz="1100" dirty="0"/>
          </a:p>
        </p:txBody>
      </p:sp>
      <p:sp>
        <p:nvSpPr>
          <p:cNvPr id="3" name="Text 1"/>
          <p:cNvSpPr txBox="1"/>
          <p:nvPr/>
        </p:nvSpPr>
        <p:spPr>
          <a:xfrm>
            <a:off x="10911535" y="256032"/>
            <a:ext cx="731520" cy="274320"/>
          </a:xfrm>
          <a:prstGeom prst="rect">
            <a:avLst/>
          </a:prstGeom>
          <a:noFill/>
          <a:ln/>
        </p:spPr>
        <p:txBody>
          <a:bodyPr wrap="square" lIns="0" tIns="0" rIns="0" bIns="0" rtlCol="0" anchor="ctr"/>
          <a:lstStyle/>
          <a:p>
            <a:pPr marL="0" indent="0" algn="r">
              <a:buNone/>
            </a:pPr>
            <a:r>
              <a:rPr lang="en-US" sz="1200" b="1" dirty="0">
                <a:solidFill>
                  <a:srgbClr val="E0453A"/>
                </a:solidFill>
                <a:latin typeface="Calibri" pitchFamily="34" charset="0"/>
                <a:ea typeface="Calibri" pitchFamily="34" charset="-122"/>
                <a:cs typeface="Calibri" pitchFamily="34" charset="-120"/>
              </a:rPr>
              <a:t>08</a:t>
            </a:r>
            <a:endParaRPr lang="en-US" sz="1200" dirty="0"/>
          </a:p>
        </p:txBody>
      </p:sp>
      <p:sp>
        <p:nvSpPr>
          <p:cNvPr id="4" name="Text 2"/>
          <p:cNvSpPr txBox="1"/>
          <p:nvPr/>
        </p:nvSpPr>
        <p:spPr>
          <a:xfrm>
            <a:off x="548640" y="566928"/>
            <a:ext cx="10515600" cy="566928"/>
          </a:xfrm>
          <a:prstGeom prst="rect">
            <a:avLst/>
          </a:prstGeom>
          <a:noFill/>
          <a:ln/>
        </p:spPr>
        <p:txBody>
          <a:bodyPr wrap="square" lIns="0" tIns="0" rIns="0" bIns="0" rtlCol="0" anchor="ctr"/>
          <a:lstStyle/>
          <a:p>
            <a:pPr marL="0" indent="0">
              <a:buNone/>
            </a:pPr>
            <a:r>
              <a:rPr lang="en-US" sz="3000" b="1" dirty="0">
                <a:solidFill>
                  <a:srgbClr val="1A2233"/>
                </a:solidFill>
                <a:latin typeface="Calibri" pitchFamily="34" charset="0"/>
                <a:ea typeface="Calibri" pitchFamily="34" charset="-122"/>
                <a:cs typeface="Calibri" pitchFamily="34" charset="-120"/>
              </a:rPr>
              <a:t>Jamoa: NamDTU</a:t>
            </a:r>
            <a:endParaRPr lang="en-US" sz="3000" dirty="0"/>
          </a:p>
        </p:txBody>
      </p:sp>
      <p:sp>
        <p:nvSpPr>
          <p:cNvPr id="5" name="Text 3"/>
          <p:cNvSpPr txBox="1"/>
          <p:nvPr/>
        </p:nvSpPr>
        <p:spPr>
          <a:xfrm>
            <a:off x="548640" y="1152144"/>
            <a:ext cx="11064240" cy="347472"/>
          </a:xfrm>
          <a:prstGeom prst="rect">
            <a:avLst/>
          </a:prstGeom>
          <a:noFill/>
          <a:ln/>
        </p:spPr>
        <p:txBody>
          <a:bodyPr wrap="square" lIns="0" tIns="0" rIns="0" bIns="0" rtlCol="0" anchor="ctr"/>
          <a:lstStyle/>
          <a:p>
            <a:pPr marL="0" indent="0">
              <a:buNone/>
            </a:pPr>
            <a:r>
              <a:rPr lang="en-US" sz="1500" i="1" dirty="0">
                <a:solidFill>
                  <a:srgbClr val="5E6B80"/>
                </a:solidFill>
                <a:latin typeface="Calibri" pitchFamily="34" charset="0"/>
                <a:ea typeface="Calibri" pitchFamily="34" charset="-122"/>
                <a:cs typeface="Calibri" pitchFamily="34" charset="-120"/>
              </a:rPr>
              <a:t>MIRA loyihasi ustida ishlayotgan to‘rt kishilik jamoa — har bir yo‘nalishga alohida mas’ul.</a:t>
            </a:r>
            <a:endParaRPr lang="en-US" sz="1500" dirty="0"/>
          </a:p>
        </p:txBody>
      </p:sp>
      <p:sp>
        <p:nvSpPr>
          <p:cNvPr id="6" name="Shape 4"/>
          <p:cNvSpPr/>
          <p:nvPr/>
        </p:nvSpPr>
        <p:spPr>
          <a:xfrm>
            <a:off x="548640" y="1737360"/>
            <a:ext cx="2606040" cy="3931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7" name="Shape 5"/>
          <p:cNvSpPr/>
          <p:nvPr/>
        </p:nvSpPr>
        <p:spPr>
          <a:xfrm>
            <a:off x="822960" y="1965960"/>
            <a:ext cx="2057400" cy="1874520"/>
          </a:xfrm>
          <a:prstGeom prst="rect">
            <a:avLst/>
          </a:prstGeom>
          <a:solidFill>
            <a:srgbClr val="E8EEF7"/>
          </a:solidFill>
          <a:ln w="12700">
            <a:solidFill>
              <a:srgbClr val="C9D6EA"/>
            </a:solidFill>
            <a:prstDash val="dash"/>
          </a:ln>
        </p:spPr>
        <p:txBody>
          <a:bodyPr/>
          <a:lstStyle/>
          <a:p>
            <a:endParaRPr lang="en-US"/>
          </a:p>
        </p:txBody>
      </p:sp>
      <p:sp>
        <p:nvSpPr>
          <p:cNvPr id="8" name="Text 6"/>
          <p:cNvSpPr txBox="1"/>
          <p:nvPr/>
        </p:nvSpPr>
        <p:spPr>
          <a:xfrm>
            <a:off x="685800" y="3968496"/>
            <a:ext cx="2331720" cy="329184"/>
          </a:xfrm>
          <a:prstGeom prst="rect">
            <a:avLst/>
          </a:prstGeom>
          <a:noFill/>
          <a:ln/>
        </p:spPr>
        <p:txBody>
          <a:bodyPr wrap="square" lIns="0" tIns="0" rIns="0" bIns="0" rtlCol="0" anchor="ctr"/>
          <a:lstStyle/>
          <a:p>
            <a:pPr marL="0" indent="0" algn="ctr">
              <a:buNone/>
            </a:pPr>
            <a:r>
              <a:rPr lang="en-US" sz="1600" b="1" dirty="0">
                <a:solidFill>
                  <a:srgbClr val="1A2233"/>
                </a:solidFill>
                <a:latin typeface="Calibri" pitchFamily="34" charset="0"/>
                <a:ea typeface="Calibri" pitchFamily="34" charset="-122"/>
                <a:cs typeface="Calibri" pitchFamily="34" charset="-120"/>
              </a:rPr>
              <a:t>Inomov Hojiakbar</a:t>
            </a:r>
            <a:endParaRPr lang="en-US" sz="1600" dirty="0"/>
          </a:p>
        </p:txBody>
      </p:sp>
      <p:sp>
        <p:nvSpPr>
          <p:cNvPr id="9" name="Text 7"/>
          <p:cNvSpPr txBox="1"/>
          <p:nvPr/>
        </p:nvSpPr>
        <p:spPr>
          <a:xfrm>
            <a:off x="685800" y="4297680"/>
            <a:ext cx="2331720" cy="256032"/>
          </a:xfrm>
          <a:prstGeom prst="rect">
            <a:avLst/>
          </a:prstGeom>
          <a:noFill/>
          <a:ln/>
        </p:spPr>
        <p:txBody>
          <a:bodyPr wrap="square" lIns="0" tIns="0" rIns="0" bIns="0" rtlCol="0" anchor="ctr"/>
          <a:lstStyle/>
          <a:p>
            <a:pPr marL="0" indent="0" algn="ctr">
              <a:buNone/>
            </a:pPr>
            <a:r>
              <a:rPr lang="en-US" sz="1250" dirty="0">
                <a:solidFill>
                  <a:srgbClr val="5E6B80"/>
                </a:solidFill>
                <a:latin typeface="Calibri" pitchFamily="34" charset="0"/>
                <a:ea typeface="Calibri" pitchFamily="34" charset="-122"/>
                <a:cs typeface="Calibri" pitchFamily="34" charset="-120"/>
              </a:rPr>
              <a:t>Azizjon o‘g‘li</a:t>
            </a:r>
            <a:endParaRPr lang="en-US" sz="1250" dirty="0"/>
          </a:p>
        </p:txBody>
      </p:sp>
      <p:sp>
        <p:nvSpPr>
          <p:cNvPr id="10" name="Text 8"/>
          <p:cNvSpPr txBox="1"/>
          <p:nvPr/>
        </p:nvSpPr>
        <p:spPr>
          <a:xfrm>
            <a:off x="685800" y="4608576"/>
            <a:ext cx="2331720" cy="292608"/>
          </a:xfrm>
          <a:prstGeom prst="rect">
            <a:avLst/>
          </a:prstGeom>
          <a:noFill/>
          <a:ln/>
        </p:spPr>
        <p:txBody>
          <a:bodyPr wrap="square" lIns="0" tIns="0" rIns="0" bIns="0" rtlCol="0" anchor="ctr"/>
          <a:lstStyle/>
          <a:p>
            <a:pPr marL="0" indent="0" algn="ctr">
              <a:buNone/>
            </a:pPr>
            <a:r>
              <a:rPr lang="en-US" sz="1350" b="1" dirty="0">
                <a:solidFill>
                  <a:srgbClr val="E0453A"/>
                </a:solidFill>
                <a:latin typeface="Calibri" pitchFamily="34" charset="0"/>
                <a:ea typeface="Calibri" pitchFamily="34" charset="-122"/>
                <a:cs typeface="Calibri" pitchFamily="34" charset="-120"/>
              </a:rPr>
              <a:t>Loyiha rahbari (CEO)</a:t>
            </a:r>
            <a:endParaRPr lang="en-US" sz="1350" dirty="0"/>
          </a:p>
        </p:txBody>
      </p:sp>
      <p:sp>
        <p:nvSpPr>
          <p:cNvPr id="11" name="Text 9"/>
          <p:cNvSpPr txBox="1"/>
          <p:nvPr/>
        </p:nvSpPr>
        <p:spPr>
          <a:xfrm>
            <a:off x="777240" y="4937760"/>
            <a:ext cx="2148840" cy="475488"/>
          </a:xfrm>
          <a:prstGeom prst="rect">
            <a:avLst/>
          </a:prstGeom>
          <a:noFill/>
          <a:ln/>
        </p:spPr>
        <p:txBody>
          <a:bodyPr wrap="square" lIns="0" tIns="0" rIns="0" bIns="0" rtlCol="0" anchor="t"/>
          <a:lstStyle/>
          <a:p>
            <a:pPr marL="0" indent="0" algn="ctr">
              <a:buNone/>
            </a:pPr>
            <a:r>
              <a:rPr lang="en-US" sz="1050" i="1" dirty="0">
                <a:solidFill>
                  <a:srgbClr val="5E6B80"/>
                </a:solidFill>
                <a:latin typeface="Calibri" pitchFamily="34" charset="0"/>
                <a:ea typeface="Calibri" pitchFamily="34" charset="-122"/>
                <a:cs typeface="Calibri" pitchFamily="34" charset="-120"/>
              </a:rPr>
              <a:t>Loyiha strategiyasi, shifoxonalar bilan hamkorlik, taqdimot</a:t>
            </a:r>
            <a:endParaRPr lang="en-US" sz="1050" dirty="0"/>
          </a:p>
        </p:txBody>
      </p:sp>
      <p:sp>
        <p:nvSpPr>
          <p:cNvPr id="12" name="Shape 10"/>
          <p:cNvSpPr/>
          <p:nvPr/>
        </p:nvSpPr>
        <p:spPr>
          <a:xfrm>
            <a:off x="3367735" y="1737360"/>
            <a:ext cx="2606040" cy="3931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3" name="Shape 11"/>
          <p:cNvSpPr/>
          <p:nvPr/>
        </p:nvSpPr>
        <p:spPr>
          <a:xfrm>
            <a:off x="3642055" y="1965960"/>
            <a:ext cx="2057400" cy="1874520"/>
          </a:xfrm>
          <a:prstGeom prst="rect">
            <a:avLst/>
          </a:prstGeom>
          <a:solidFill>
            <a:srgbClr val="E8EEF7"/>
          </a:solidFill>
          <a:ln w="12700">
            <a:solidFill>
              <a:srgbClr val="C9D6EA"/>
            </a:solidFill>
            <a:prstDash val="dash"/>
          </a:ln>
        </p:spPr>
        <p:txBody>
          <a:bodyPr/>
          <a:lstStyle/>
          <a:p>
            <a:endParaRPr lang="en-US"/>
          </a:p>
        </p:txBody>
      </p:sp>
      <p:sp>
        <p:nvSpPr>
          <p:cNvPr id="14" name="Text 12"/>
          <p:cNvSpPr txBox="1"/>
          <p:nvPr/>
        </p:nvSpPr>
        <p:spPr>
          <a:xfrm>
            <a:off x="3504895" y="3968496"/>
            <a:ext cx="2331720" cy="329184"/>
          </a:xfrm>
          <a:prstGeom prst="rect">
            <a:avLst/>
          </a:prstGeom>
          <a:noFill/>
          <a:ln/>
        </p:spPr>
        <p:txBody>
          <a:bodyPr wrap="square" lIns="0" tIns="0" rIns="0" bIns="0" rtlCol="0" anchor="ctr"/>
          <a:lstStyle/>
          <a:p>
            <a:pPr marL="0" indent="0" algn="ctr">
              <a:buNone/>
            </a:pPr>
            <a:r>
              <a:rPr lang="en-US" sz="1600" b="1" dirty="0">
                <a:solidFill>
                  <a:srgbClr val="1A2233"/>
                </a:solidFill>
                <a:latin typeface="Calibri" pitchFamily="34" charset="0"/>
                <a:ea typeface="Calibri" pitchFamily="34" charset="-122"/>
                <a:cs typeface="Calibri" pitchFamily="34" charset="-120"/>
              </a:rPr>
              <a:t>Rajabov Sarvar</a:t>
            </a:r>
            <a:endParaRPr lang="en-US" sz="1600" dirty="0"/>
          </a:p>
        </p:txBody>
      </p:sp>
      <p:sp>
        <p:nvSpPr>
          <p:cNvPr id="15" name="Text 13"/>
          <p:cNvSpPr txBox="1"/>
          <p:nvPr/>
        </p:nvSpPr>
        <p:spPr>
          <a:xfrm>
            <a:off x="3504895" y="4297680"/>
            <a:ext cx="2331720" cy="256032"/>
          </a:xfrm>
          <a:prstGeom prst="rect">
            <a:avLst/>
          </a:prstGeom>
          <a:noFill/>
          <a:ln/>
        </p:spPr>
        <p:txBody>
          <a:bodyPr wrap="square" lIns="0" tIns="0" rIns="0" bIns="0" rtlCol="0" anchor="ctr"/>
          <a:lstStyle/>
          <a:p>
            <a:pPr marL="0" indent="0" algn="ctr">
              <a:buNone/>
            </a:pPr>
            <a:r>
              <a:rPr lang="en-US" sz="1250" dirty="0">
                <a:solidFill>
                  <a:srgbClr val="5E6B80"/>
                </a:solidFill>
                <a:latin typeface="Calibri" pitchFamily="34" charset="0"/>
                <a:ea typeface="Calibri" pitchFamily="34" charset="-122"/>
                <a:cs typeface="Calibri" pitchFamily="34" charset="-120"/>
              </a:rPr>
              <a:t>Boymurod o‘g‘li</a:t>
            </a:r>
            <a:endParaRPr lang="en-US" sz="1250" dirty="0"/>
          </a:p>
        </p:txBody>
      </p:sp>
      <p:sp>
        <p:nvSpPr>
          <p:cNvPr id="16" name="Text 14"/>
          <p:cNvSpPr txBox="1"/>
          <p:nvPr/>
        </p:nvSpPr>
        <p:spPr>
          <a:xfrm>
            <a:off x="3504895" y="4608576"/>
            <a:ext cx="2331720" cy="292608"/>
          </a:xfrm>
          <a:prstGeom prst="rect">
            <a:avLst/>
          </a:prstGeom>
          <a:noFill/>
          <a:ln/>
        </p:spPr>
        <p:txBody>
          <a:bodyPr wrap="square" lIns="0" tIns="0" rIns="0" bIns="0" rtlCol="0" anchor="ctr"/>
          <a:lstStyle/>
          <a:p>
            <a:pPr marL="0" indent="0" algn="ctr">
              <a:buNone/>
            </a:pPr>
            <a:r>
              <a:rPr lang="en-US" sz="1350" b="1" dirty="0">
                <a:solidFill>
                  <a:srgbClr val="3D6FB6"/>
                </a:solidFill>
                <a:latin typeface="Calibri" pitchFamily="34" charset="0"/>
                <a:ea typeface="Calibri" pitchFamily="34" charset="-122"/>
                <a:cs typeface="Calibri" pitchFamily="34" charset="-120"/>
              </a:rPr>
              <a:t>Dasturchi (CTO)</a:t>
            </a:r>
            <a:endParaRPr lang="en-US" sz="1350" dirty="0"/>
          </a:p>
        </p:txBody>
      </p:sp>
      <p:sp>
        <p:nvSpPr>
          <p:cNvPr id="17" name="Text 15"/>
          <p:cNvSpPr txBox="1"/>
          <p:nvPr/>
        </p:nvSpPr>
        <p:spPr>
          <a:xfrm>
            <a:off x="3596335" y="4937760"/>
            <a:ext cx="2148840" cy="475488"/>
          </a:xfrm>
          <a:prstGeom prst="rect">
            <a:avLst/>
          </a:prstGeom>
          <a:noFill/>
          <a:ln/>
        </p:spPr>
        <p:txBody>
          <a:bodyPr wrap="square" lIns="0" tIns="0" rIns="0" bIns="0" rtlCol="0" anchor="t"/>
          <a:lstStyle/>
          <a:p>
            <a:pPr marL="0" indent="0" algn="ctr">
              <a:buNone/>
            </a:pPr>
            <a:r>
              <a:rPr lang="en-US" sz="1050" i="1" dirty="0">
                <a:solidFill>
                  <a:srgbClr val="5E6B80"/>
                </a:solidFill>
                <a:latin typeface="Calibri" pitchFamily="34" charset="0"/>
                <a:ea typeface="Calibri" pitchFamily="34" charset="-122"/>
                <a:cs typeface="Calibri" pitchFamily="34" charset="-120"/>
              </a:rPr>
              <a:t>Backend va AI: FastAPI, PostgreSQL, risk-triaj modeli</a:t>
            </a:r>
            <a:endParaRPr lang="en-US" sz="1050" dirty="0"/>
          </a:p>
        </p:txBody>
      </p:sp>
      <p:sp>
        <p:nvSpPr>
          <p:cNvPr id="18" name="Shape 16"/>
          <p:cNvSpPr/>
          <p:nvPr/>
        </p:nvSpPr>
        <p:spPr>
          <a:xfrm>
            <a:off x="6186830" y="1737360"/>
            <a:ext cx="2606040" cy="3931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19" name="Shape 17"/>
          <p:cNvSpPr/>
          <p:nvPr/>
        </p:nvSpPr>
        <p:spPr>
          <a:xfrm>
            <a:off x="6461150" y="1965960"/>
            <a:ext cx="2057400" cy="1874520"/>
          </a:xfrm>
          <a:prstGeom prst="rect">
            <a:avLst/>
          </a:prstGeom>
          <a:solidFill>
            <a:srgbClr val="E8EEF7"/>
          </a:solidFill>
          <a:ln w="12700">
            <a:solidFill>
              <a:srgbClr val="C9D6EA"/>
            </a:solidFill>
            <a:prstDash val="dash"/>
          </a:ln>
        </p:spPr>
        <p:txBody>
          <a:bodyPr/>
          <a:lstStyle/>
          <a:p>
            <a:endParaRPr lang="en-US"/>
          </a:p>
        </p:txBody>
      </p:sp>
      <p:sp>
        <p:nvSpPr>
          <p:cNvPr id="20" name="Text 18"/>
          <p:cNvSpPr txBox="1"/>
          <p:nvPr/>
        </p:nvSpPr>
        <p:spPr>
          <a:xfrm>
            <a:off x="6323990" y="3968496"/>
            <a:ext cx="2331720" cy="329184"/>
          </a:xfrm>
          <a:prstGeom prst="rect">
            <a:avLst/>
          </a:prstGeom>
          <a:noFill/>
          <a:ln/>
        </p:spPr>
        <p:txBody>
          <a:bodyPr wrap="square" lIns="0" tIns="0" rIns="0" bIns="0" rtlCol="0" anchor="ctr"/>
          <a:lstStyle/>
          <a:p>
            <a:pPr marL="0" indent="0" algn="ctr">
              <a:buNone/>
            </a:pPr>
            <a:r>
              <a:rPr lang="en-US" sz="1600" b="1" dirty="0">
                <a:solidFill>
                  <a:srgbClr val="1A2233"/>
                </a:solidFill>
                <a:latin typeface="Calibri" pitchFamily="34" charset="0"/>
                <a:ea typeface="Calibri" pitchFamily="34" charset="-122"/>
                <a:cs typeface="Calibri" pitchFamily="34" charset="-120"/>
              </a:rPr>
              <a:t>Bahodir Ahmadaliyev</a:t>
            </a:r>
            <a:endParaRPr lang="en-US" sz="1600" dirty="0"/>
          </a:p>
        </p:txBody>
      </p:sp>
      <p:sp>
        <p:nvSpPr>
          <p:cNvPr id="21" name="Text 19"/>
          <p:cNvSpPr txBox="1"/>
          <p:nvPr/>
        </p:nvSpPr>
        <p:spPr>
          <a:xfrm>
            <a:off x="6323990" y="4297680"/>
            <a:ext cx="2331720" cy="256032"/>
          </a:xfrm>
          <a:prstGeom prst="rect">
            <a:avLst/>
          </a:prstGeom>
          <a:noFill/>
          <a:ln/>
        </p:spPr>
        <p:txBody>
          <a:bodyPr wrap="square" lIns="0" tIns="0" rIns="0" bIns="0" rtlCol="0" anchor="ctr"/>
          <a:lstStyle/>
          <a:p>
            <a:pPr marL="0" indent="0" algn="ctr">
              <a:buNone/>
            </a:pPr>
            <a:r>
              <a:rPr lang="en-US" sz="1250" dirty="0">
                <a:solidFill>
                  <a:srgbClr val="5E6B80"/>
                </a:solidFill>
                <a:latin typeface="Calibri" pitchFamily="34" charset="0"/>
                <a:ea typeface="Calibri" pitchFamily="34" charset="-122"/>
                <a:cs typeface="Calibri" pitchFamily="34" charset="-120"/>
              </a:rPr>
              <a:t>Ulug‘bek o‘g‘li</a:t>
            </a:r>
            <a:endParaRPr lang="en-US" sz="1250" dirty="0"/>
          </a:p>
        </p:txBody>
      </p:sp>
      <p:sp>
        <p:nvSpPr>
          <p:cNvPr id="22" name="Text 20"/>
          <p:cNvSpPr txBox="1"/>
          <p:nvPr/>
        </p:nvSpPr>
        <p:spPr>
          <a:xfrm>
            <a:off x="6323990" y="4608576"/>
            <a:ext cx="2331720" cy="292608"/>
          </a:xfrm>
          <a:prstGeom prst="rect">
            <a:avLst/>
          </a:prstGeom>
          <a:noFill/>
          <a:ln/>
        </p:spPr>
        <p:txBody>
          <a:bodyPr wrap="square" lIns="0" tIns="0" rIns="0" bIns="0" rtlCol="0" anchor="ctr"/>
          <a:lstStyle/>
          <a:p>
            <a:pPr marL="0" indent="0" algn="ctr">
              <a:buNone/>
            </a:pPr>
            <a:r>
              <a:rPr lang="en-US" sz="1350" b="1" dirty="0">
                <a:solidFill>
                  <a:srgbClr val="7B5CC4"/>
                </a:solidFill>
                <a:latin typeface="Calibri" pitchFamily="34" charset="0"/>
                <a:ea typeface="Calibri" pitchFamily="34" charset="-122"/>
                <a:cs typeface="Calibri" pitchFamily="34" charset="-120"/>
              </a:rPr>
              <a:t>Designer / UI-UX</a:t>
            </a:r>
            <a:endParaRPr lang="en-US" sz="1350" dirty="0"/>
          </a:p>
        </p:txBody>
      </p:sp>
      <p:sp>
        <p:nvSpPr>
          <p:cNvPr id="23" name="Text 21"/>
          <p:cNvSpPr txBox="1"/>
          <p:nvPr/>
        </p:nvSpPr>
        <p:spPr>
          <a:xfrm>
            <a:off x="6415430" y="4937760"/>
            <a:ext cx="2148840" cy="475488"/>
          </a:xfrm>
          <a:prstGeom prst="rect">
            <a:avLst/>
          </a:prstGeom>
          <a:noFill/>
          <a:ln/>
        </p:spPr>
        <p:txBody>
          <a:bodyPr wrap="square" lIns="0" tIns="0" rIns="0" bIns="0" rtlCol="0" anchor="t"/>
          <a:lstStyle/>
          <a:p>
            <a:pPr marL="0" indent="0" algn="ctr">
              <a:buNone/>
            </a:pPr>
            <a:r>
              <a:rPr lang="en-US" sz="1050" i="1" dirty="0">
                <a:solidFill>
                  <a:srgbClr val="5E6B80"/>
                </a:solidFill>
                <a:latin typeface="Calibri" pitchFamily="34" charset="0"/>
                <a:ea typeface="Calibri" pitchFamily="34" charset="-122"/>
                <a:cs typeface="Calibri" pitchFamily="34" charset="-120"/>
              </a:rPr>
              <a:t>Ilova interfeysi, qurilmalar va infografika dizayni</a:t>
            </a:r>
            <a:endParaRPr lang="en-US" sz="1050" dirty="0"/>
          </a:p>
        </p:txBody>
      </p:sp>
      <p:sp>
        <p:nvSpPr>
          <p:cNvPr id="24" name="Shape 22"/>
          <p:cNvSpPr/>
          <p:nvPr/>
        </p:nvSpPr>
        <p:spPr>
          <a:xfrm>
            <a:off x="9005926" y="1737360"/>
            <a:ext cx="2606040" cy="3931920"/>
          </a:xfrm>
          <a:prstGeom prst="roundRect">
            <a:avLst>
              <a:gd name="adj" fmla="val 4211"/>
            </a:avLst>
          </a:prstGeom>
          <a:solidFill>
            <a:srgbClr val="FFFFFF"/>
          </a:solidFill>
          <a:ln w="9525">
            <a:solidFill>
              <a:srgbClr val="E1E6EE"/>
            </a:solidFill>
            <a:prstDash val="solid"/>
          </a:ln>
          <a:effectLst>
            <a:outerShdw blurRad="177800" dist="38100" dir="5400000" algn="bl" rotWithShape="0">
              <a:srgbClr val="1A2233">
                <a:alpha val="10000"/>
              </a:srgbClr>
            </a:outerShdw>
          </a:effectLst>
        </p:spPr>
        <p:txBody>
          <a:bodyPr/>
          <a:lstStyle/>
          <a:p>
            <a:endParaRPr lang="en-US"/>
          </a:p>
        </p:txBody>
      </p:sp>
      <p:sp>
        <p:nvSpPr>
          <p:cNvPr id="25" name="Shape 23"/>
          <p:cNvSpPr/>
          <p:nvPr/>
        </p:nvSpPr>
        <p:spPr>
          <a:xfrm>
            <a:off x="9280246" y="1965960"/>
            <a:ext cx="2057400" cy="1874520"/>
          </a:xfrm>
          <a:prstGeom prst="rect">
            <a:avLst/>
          </a:prstGeom>
          <a:solidFill>
            <a:srgbClr val="E8EEF7"/>
          </a:solidFill>
          <a:ln w="12700">
            <a:solidFill>
              <a:srgbClr val="C9D6EA"/>
            </a:solidFill>
            <a:prstDash val="dash"/>
          </a:ln>
        </p:spPr>
        <p:txBody>
          <a:bodyPr/>
          <a:lstStyle/>
          <a:p>
            <a:endParaRPr lang="en-US"/>
          </a:p>
        </p:txBody>
      </p:sp>
      <p:sp>
        <p:nvSpPr>
          <p:cNvPr id="26" name="Text 24"/>
          <p:cNvSpPr txBox="1"/>
          <p:nvPr/>
        </p:nvSpPr>
        <p:spPr>
          <a:xfrm>
            <a:off x="9143086" y="3968496"/>
            <a:ext cx="2331720" cy="329184"/>
          </a:xfrm>
          <a:prstGeom prst="rect">
            <a:avLst/>
          </a:prstGeom>
          <a:noFill/>
          <a:ln/>
        </p:spPr>
        <p:txBody>
          <a:bodyPr wrap="square" lIns="0" tIns="0" rIns="0" bIns="0" rtlCol="0" anchor="ctr"/>
          <a:lstStyle/>
          <a:p>
            <a:pPr marL="0" indent="0" algn="ctr">
              <a:buNone/>
            </a:pPr>
            <a:r>
              <a:rPr lang="en-US" sz="1600" b="1" dirty="0">
                <a:solidFill>
                  <a:srgbClr val="1A2233"/>
                </a:solidFill>
                <a:latin typeface="Calibri" pitchFamily="34" charset="0"/>
                <a:ea typeface="Calibri" pitchFamily="34" charset="-122"/>
                <a:cs typeface="Calibri" pitchFamily="34" charset="-120"/>
              </a:rPr>
              <a:t>Abduhamidova Mubina</a:t>
            </a:r>
            <a:endParaRPr lang="en-US" sz="1600" dirty="0"/>
          </a:p>
        </p:txBody>
      </p:sp>
      <p:sp>
        <p:nvSpPr>
          <p:cNvPr id="27" name="Text 25"/>
          <p:cNvSpPr txBox="1"/>
          <p:nvPr/>
        </p:nvSpPr>
        <p:spPr>
          <a:xfrm>
            <a:off x="9143086" y="4297680"/>
            <a:ext cx="2331720" cy="256032"/>
          </a:xfrm>
          <a:prstGeom prst="rect">
            <a:avLst/>
          </a:prstGeom>
          <a:noFill/>
          <a:ln/>
        </p:spPr>
        <p:txBody>
          <a:bodyPr wrap="square" lIns="0" tIns="0" rIns="0" bIns="0" rtlCol="0" anchor="ctr"/>
          <a:lstStyle/>
          <a:p>
            <a:pPr marL="0" indent="0" algn="ctr">
              <a:buNone/>
            </a:pPr>
            <a:r>
              <a:rPr lang="en-US" sz="1250" dirty="0">
                <a:solidFill>
                  <a:srgbClr val="5E6B80"/>
                </a:solidFill>
                <a:latin typeface="Calibri" pitchFamily="34" charset="0"/>
                <a:ea typeface="Calibri" pitchFamily="34" charset="-122"/>
                <a:cs typeface="Calibri" pitchFamily="34" charset="-120"/>
              </a:rPr>
              <a:t>Ilhomjon qizi</a:t>
            </a:r>
            <a:endParaRPr lang="en-US" sz="1250" dirty="0"/>
          </a:p>
        </p:txBody>
      </p:sp>
      <p:sp>
        <p:nvSpPr>
          <p:cNvPr id="28" name="Text 26"/>
          <p:cNvSpPr txBox="1"/>
          <p:nvPr/>
        </p:nvSpPr>
        <p:spPr>
          <a:xfrm>
            <a:off x="9143086" y="4608576"/>
            <a:ext cx="2331720" cy="292608"/>
          </a:xfrm>
          <a:prstGeom prst="rect">
            <a:avLst/>
          </a:prstGeom>
          <a:noFill/>
          <a:ln/>
        </p:spPr>
        <p:txBody>
          <a:bodyPr wrap="square" lIns="0" tIns="0" rIns="0" bIns="0" rtlCol="0" anchor="ctr"/>
          <a:lstStyle/>
          <a:p>
            <a:pPr marL="0" indent="0" algn="ctr">
              <a:buNone/>
            </a:pPr>
            <a:r>
              <a:rPr lang="en-US" sz="1350" b="1" dirty="0">
                <a:solidFill>
                  <a:srgbClr val="2E9D6B"/>
                </a:solidFill>
                <a:latin typeface="Calibri" pitchFamily="34" charset="0"/>
                <a:ea typeface="Calibri" pitchFamily="34" charset="-122"/>
                <a:cs typeface="Calibri" pitchFamily="34" charset="-120"/>
              </a:rPr>
              <a:t>Biznes analitik</a:t>
            </a:r>
            <a:endParaRPr lang="en-US" sz="1350" dirty="0"/>
          </a:p>
        </p:txBody>
      </p:sp>
      <p:sp>
        <p:nvSpPr>
          <p:cNvPr id="29" name="Text 27"/>
          <p:cNvSpPr txBox="1"/>
          <p:nvPr/>
        </p:nvSpPr>
        <p:spPr>
          <a:xfrm>
            <a:off x="9234526" y="4937760"/>
            <a:ext cx="2148840" cy="475488"/>
          </a:xfrm>
          <a:prstGeom prst="rect">
            <a:avLst/>
          </a:prstGeom>
          <a:noFill/>
          <a:ln/>
        </p:spPr>
        <p:txBody>
          <a:bodyPr wrap="square" lIns="0" tIns="0" rIns="0" bIns="0" rtlCol="0" anchor="t"/>
          <a:lstStyle/>
          <a:p>
            <a:pPr marL="0" indent="0" algn="ctr">
              <a:buNone/>
            </a:pPr>
            <a:r>
              <a:rPr lang="en-US" sz="1050" i="1" dirty="0">
                <a:solidFill>
                  <a:srgbClr val="5E6B80"/>
                </a:solidFill>
                <a:latin typeface="Calibri" pitchFamily="34" charset="0"/>
                <a:ea typeface="Calibri" pitchFamily="34" charset="-122"/>
                <a:cs typeface="Calibri" pitchFamily="34" charset="-120"/>
              </a:rPr>
              <a:t>Bozor tahlili, unit economics, moliyaviy model</a:t>
            </a:r>
            <a:endParaRPr lang="en-US" sz="1050" dirty="0"/>
          </a:p>
        </p:txBody>
      </p:sp>
      <p:sp>
        <p:nvSpPr>
          <p:cNvPr id="30" name="Shape 28"/>
          <p:cNvSpPr/>
          <p:nvPr/>
        </p:nvSpPr>
        <p:spPr>
          <a:xfrm>
            <a:off x="548640" y="5833872"/>
            <a:ext cx="11091672" cy="731520"/>
          </a:xfrm>
          <a:prstGeom prst="roundRect">
            <a:avLst>
              <a:gd name="adj" fmla="val 15000"/>
            </a:avLst>
          </a:prstGeom>
          <a:solidFill>
            <a:srgbClr val="0E1B33"/>
          </a:solidFill>
          <a:ln w="9525">
            <a:solidFill>
              <a:srgbClr val="0E1B33"/>
            </a:solidFill>
            <a:prstDash val="solid"/>
          </a:ln>
          <a:effectLst>
            <a:outerShdw blurRad="177800" dist="38100" dir="5400000" algn="bl" rotWithShape="0">
              <a:srgbClr val="1A2233">
                <a:alpha val="10000"/>
              </a:srgbClr>
            </a:outerShdw>
          </a:effectLst>
        </p:spPr>
        <p:txBody>
          <a:bodyPr/>
          <a:lstStyle/>
          <a:p>
            <a:endParaRPr lang="en-US"/>
          </a:p>
        </p:txBody>
      </p:sp>
      <p:sp>
        <p:nvSpPr>
          <p:cNvPr id="31" name="Text 29"/>
          <p:cNvSpPr txBox="1"/>
          <p:nvPr/>
        </p:nvSpPr>
        <p:spPr>
          <a:xfrm>
            <a:off x="822960" y="5833872"/>
            <a:ext cx="2103120" cy="7315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Biz bilan bog‘lanish</a:t>
            </a:r>
            <a:endParaRPr lang="en-US" sz="1400" dirty="0"/>
          </a:p>
        </p:txBody>
      </p:sp>
      <p:sp>
        <p:nvSpPr>
          <p:cNvPr id="32" name="Shape 30"/>
          <p:cNvSpPr/>
          <p:nvPr/>
        </p:nvSpPr>
        <p:spPr>
          <a:xfrm>
            <a:off x="2971800" y="5980176"/>
            <a:ext cx="438912" cy="438912"/>
          </a:xfrm>
          <a:prstGeom prst="ellipse">
            <a:avLst/>
          </a:prstGeom>
          <a:solidFill>
            <a:srgbClr val="E0453A"/>
          </a:solidFill>
          <a:ln w="12700">
            <a:solidFill>
              <a:srgbClr val="E0453A"/>
            </a:solidFill>
            <a:prstDash val="solid"/>
          </a:ln>
        </p:spPr>
        <p:txBody>
          <a:bodyPr/>
          <a:lstStyle/>
          <a:p>
            <a:endParaRPr lang="en-US"/>
          </a:p>
        </p:txBody>
      </p:sp>
      <p:pic>
        <p:nvPicPr>
          <p:cNvPr id="33" name="Image 0" descr="preencoded.png"/>
          <p:cNvPicPr>
            <a:picLocks noChangeAspect="1"/>
          </p:cNvPicPr>
          <p:nvPr/>
        </p:nvPicPr>
        <p:blipFill>
          <a:blip r:embed="rId3"/>
          <a:stretch>
            <a:fillRect/>
          </a:stretch>
        </p:blipFill>
        <p:spPr>
          <a:xfrm>
            <a:off x="3081528" y="6089904"/>
            <a:ext cx="219456" cy="219456"/>
          </a:xfrm>
          <a:prstGeom prst="rect">
            <a:avLst/>
          </a:prstGeom>
        </p:spPr>
      </p:pic>
      <p:sp>
        <p:nvSpPr>
          <p:cNvPr id="34" name="Text 31"/>
          <p:cNvSpPr txBox="1"/>
          <p:nvPr/>
        </p:nvSpPr>
        <p:spPr>
          <a:xfrm>
            <a:off x="3538728" y="5833872"/>
            <a:ext cx="1920240" cy="7315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+998 94 807 12 24</a:t>
            </a:r>
            <a:endParaRPr lang="en-US" sz="1350" dirty="0"/>
          </a:p>
        </p:txBody>
      </p:sp>
      <p:sp>
        <p:nvSpPr>
          <p:cNvPr id="35" name="Shape 32"/>
          <p:cNvSpPr/>
          <p:nvPr/>
        </p:nvSpPr>
        <p:spPr>
          <a:xfrm>
            <a:off x="5486400" y="5980176"/>
            <a:ext cx="438912" cy="438912"/>
          </a:xfrm>
          <a:prstGeom prst="ellipse">
            <a:avLst/>
          </a:prstGeom>
          <a:solidFill>
            <a:srgbClr val="E0453A"/>
          </a:solidFill>
          <a:ln w="12700">
            <a:solidFill>
              <a:srgbClr val="E0453A"/>
            </a:solidFill>
            <a:prstDash val="solid"/>
          </a:ln>
        </p:spPr>
        <p:txBody>
          <a:bodyPr/>
          <a:lstStyle/>
          <a:p>
            <a:endParaRPr lang="en-US"/>
          </a:p>
        </p:txBody>
      </p:sp>
      <p:pic>
        <p:nvPicPr>
          <p:cNvPr id="36" name="Image 1" descr="preencoded.png"/>
          <p:cNvPicPr>
            <a:picLocks noChangeAspect="1"/>
          </p:cNvPicPr>
          <p:nvPr/>
        </p:nvPicPr>
        <p:blipFill>
          <a:blip r:embed="rId4"/>
          <a:stretch>
            <a:fillRect/>
          </a:stretch>
        </p:blipFill>
        <p:spPr>
          <a:xfrm>
            <a:off x="5596128" y="6089904"/>
            <a:ext cx="219456" cy="219456"/>
          </a:xfrm>
          <a:prstGeom prst="rect">
            <a:avLst/>
          </a:prstGeom>
        </p:spPr>
      </p:pic>
      <p:sp>
        <p:nvSpPr>
          <p:cNvPr id="37" name="Text 33"/>
          <p:cNvSpPr txBox="1"/>
          <p:nvPr/>
        </p:nvSpPr>
        <p:spPr>
          <a:xfrm>
            <a:off x="6053328" y="5833872"/>
            <a:ext cx="1920240" cy="7315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@astrohojiakbar</a:t>
            </a:r>
            <a:endParaRPr lang="en-US" sz="1350" dirty="0"/>
          </a:p>
        </p:txBody>
      </p:sp>
      <p:sp>
        <p:nvSpPr>
          <p:cNvPr id="38" name="Shape 34"/>
          <p:cNvSpPr/>
          <p:nvPr/>
        </p:nvSpPr>
        <p:spPr>
          <a:xfrm>
            <a:off x="7909560" y="5980176"/>
            <a:ext cx="438912" cy="438912"/>
          </a:xfrm>
          <a:prstGeom prst="ellipse">
            <a:avLst/>
          </a:prstGeom>
          <a:solidFill>
            <a:srgbClr val="E0453A"/>
          </a:solidFill>
          <a:ln w="12700">
            <a:solidFill>
              <a:srgbClr val="E0453A"/>
            </a:solidFill>
            <a:prstDash val="solid"/>
          </a:ln>
        </p:spPr>
        <p:txBody>
          <a:bodyPr/>
          <a:lstStyle/>
          <a:p>
            <a:endParaRPr lang="en-US"/>
          </a:p>
        </p:txBody>
      </p:sp>
      <p:pic>
        <p:nvPicPr>
          <p:cNvPr id="39" name="Image 2" descr="preencoded.png"/>
          <p:cNvPicPr>
            <a:picLocks noChangeAspect="1"/>
          </p:cNvPicPr>
          <p:nvPr/>
        </p:nvPicPr>
        <p:blipFill>
          <a:blip r:embed="rId5"/>
          <a:stretch>
            <a:fillRect/>
          </a:stretch>
        </p:blipFill>
        <p:spPr>
          <a:xfrm>
            <a:off x="8019288" y="6089904"/>
            <a:ext cx="219456" cy="219456"/>
          </a:xfrm>
          <a:prstGeom prst="rect">
            <a:avLst/>
          </a:prstGeom>
        </p:spPr>
      </p:pic>
      <p:sp>
        <p:nvSpPr>
          <p:cNvPr id="40" name="Text 35"/>
          <p:cNvSpPr txBox="1"/>
          <p:nvPr/>
        </p:nvSpPr>
        <p:spPr>
          <a:xfrm>
            <a:off x="8476488" y="5833872"/>
            <a:ext cx="3566160" cy="7315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Namangan davlat texnika universiteti</a:t>
            </a:r>
            <a:endParaRPr lang="en-US" sz="1350" dirty="0"/>
          </a:p>
        </p:txBody>
      </p:sp>
      <p:pic>
        <p:nvPicPr>
          <p:cNvPr id="47" name="Picture Placeholder 46">
            <a:extLst>
              <a:ext uri="{FF2B5EF4-FFF2-40B4-BE49-F238E27FC236}">
                <a16:creationId xmlns:a16="http://schemas.microsoft.com/office/drawing/2014/main" id="{AE1F9683-96B5-CA95-52F5-56F2B4CD6CC7}"/>
              </a:ext>
            </a:extLst>
          </p:cNvPr>
          <p:cNvPicPr>
            <a:picLocks noGrp="1" noChangeAspect="1"/>
          </p:cNvPicPr>
          <p:nvPr>
            <p:ph type="pic" idx="101"/>
          </p:nvPr>
        </p:nvPicPr>
        <p:blipFill>
          <a:blip r:embed="rId6"/>
          <a:srcRect t="15828" b="15828"/>
          <a:stretch>
            <a:fillRect/>
          </a:stretch>
        </p:blipFill>
        <p:spPr>
          <a:xfrm>
            <a:off x="3648456" y="1929384"/>
            <a:ext cx="2057400" cy="1892808"/>
          </a:xfrm>
          <a:prstGeom prst="rect">
            <a:avLst/>
          </a:prstGeom>
        </p:spPr>
      </p:pic>
      <p:pic>
        <p:nvPicPr>
          <p:cNvPr id="45" name="Picture Placeholder 44">
            <a:extLst>
              <a:ext uri="{FF2B5EF4-FFF2-40B4-BE49-F238E27FC236}">
                <a16:creationId xmlns:a16="http://schemas.microsoft.com/office/drawing/2014/main" id="{4EC23AE1-BC6E-76AD-EB67-C9A6F4092110}"/>
              </a:ext>
            </a:extLst>
          </p:cNvPr>
          <p:cNvPicPr>
            <a:picLocks noGrp="1" noChangeAspect="1"/>
          </p:cNvPicPr>
          <p:nvPr>
            <p:ph type="pic" idx="102"/>
          </p:nvPr>
        </p:nvPicPr>
        <p:blipFill>
          <a:blip r:embed="rId7"/>
          <a:srcRect t="4437" b="4437"/>
          <a:stretch>
            <a:fillRect/>
          </a:stretch>
        </p:blipFill>
        <p:spPr>
          <a:xfrm>
            <a:off x="6461150" y="1929384"/>
            <a:ext cx="2103120" cy="1874520"/>
          </a:xfrm>
          <a:prstGeom prst="rect">
            <a:avLst/>
          </a:prstGeom>
        </p:spPr>
      </p:pic>
      <p:pic>
        <p:nvPicPr>
          <p:cNvPr id="46" name="Picture Placeholder 45">
            <a:extLst>
              <a:ext uri="{FF2B5EF4-FFF2-40B4-BE49-F238E27FC236}">
                <a16:creationId xmlns:a16="http://schemas.microsoft.com/office/drawing/2014/main" id="{8BC9DB0A-D34E-0E60-DB01-59AD3492EAA2}"/>
              </a:ext>
            </a:extLst>
          </p:cNvPr>
          <p:cNvPicPr>
            <a:picLocks noGrp="1" noChangeAspect="1"/>
          </p:cNvPicPr>
          <p:nvPr>
            <p:ph type="pic" idx="103"/>
          </p:nvPr>
        </p:nvPicPr>
        <p:blipFill>
          <a:blip r:embed="rId8"/>
          <a:srcRect l="3509" r="3509"/>
          <a:stretch>
            <a:fillRect/>
          </a:stretch>
        </p:blipFill>
        <p:spPr>
          <a:prstGeom prst="rect">
            <a:avLst/>
          </a:prstGeom>
        </p:spPr>
      </p:pic>
      <p:pic>
        <p:nvPicPr>
          <p:cNvPr id="44" name="Picture Placeholder 43">
            <a:extLst>
              <a:ext uri="{FF2B5EF4-FFF2-40B4-BE49-F238E27FC236}">
                <a16:creationId xmlns:a16="http://schemas.microsoft.com/office/drawing/2014/main" id="{C6F433BB-C740-6352-0891-05D482765A53}"/>
              </a:ext>
            </a:extLst>
          </p:cNvPr>
          <p:cNvPicPr>
            <a:picLocks noGrp="1" noChangeAspect="1"/>
          </p:cNvPicPr>
          <p:nvPr>
            <p:ph type="pic" idx="100"/>
          </p:nvPr>
        </p:nvPicPr>
        <p:blipFill>
          <a:blip r:embed="rId9"/>
          <a:srcRect t="10031" b="10031"/>
          <a:stretch>
            <a:fillRect/>
          </a:stretch>
        </p:blipFill>
        <p:spPr>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2278</Words>
  <Application>Microsoft Office PowerPoint</Application>
  <PresentationFormat>Widescreen</PresentationFormat>
  <Paragraphs>244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 — NamDTU</dc:title>
  <dc:subject>PptxGenJS Presentation</dc:subject>
  <dc:creator>PptxGenJS</dc:creator>
  <cp:lastModifiedBy>Otabek Khudayberdiev</cp:lastModifiedBy>
  <cp:revision>2</cp:revision>
  <dcterms:created xsi:type="dcterms:W3CDTF">2026-09-26T12:34:04Z</dcterms:created>
  <dcterms:modified xsi:type="dcterms:W3CDTF">2026-09-26T12:49:20Z</dcterms:modified>
</cp:coreProperties>
</file>